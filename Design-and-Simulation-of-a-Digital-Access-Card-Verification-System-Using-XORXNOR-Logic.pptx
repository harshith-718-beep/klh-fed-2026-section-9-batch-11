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89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4" r:id="rId6"/>
    <p:sldId id="260" r:id="rId7"/>
    <p:sldId id="261" r:id="rId8"/>
    <p:sldId id="262" r:id="rId9"/>
    <p:sldId id="263" r:id="rId10"/>
  </p:sldIdLst>
  <p:sldSz cx="12192000" cy="6858000"/>
  <p:notesSz cx="6858000" cy="12192000"/>
  <p:embeddedFontLs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Calibri Light" panose="020F0302020204030204" pitchFamily="34" charset="0"/>
      <p:regular r:id="rId16"/>
      <p:italic r:id="rId17"/>
    </p:embeddedFont>
    <p:embeddedFont>
      <p:font typeface="Merriweather" panose="00000500000000000000" pitchFamily="2" charset="0"/>
      <p:regular r:id="rId18"/>
      <p:bold r:id="rId19"/>
    </p:embeddedFont>
    <p:embeddedFont>
      <p:font typeface="Merriweather Bold" panose="00000800000000000000" charset="0"/>
      <p:regular r:id="rId2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08345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3F103-BC34-4FE4-A40E-EDDEECFDA5D0}" type="datetimeFigureOut">
              <a:rPr lang="en-US" smtClean="0"/>
              <a:pPr/>
              <a:t>8/31/2026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26758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smtClean="0"/>
              <a:t>8/31/2026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403669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smtClean="0"/>
              <a:t>8/31/2026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797896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smtClean="0"/>
              <a:t>8/31/2026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987362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smtClean="0"/>
              <a:t>8/31/2026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16559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smtClean="0"/>
              <a:t>8/31/2026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0629397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smtClean="0"/>
              <a:t>8/31/2026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328832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76E86A4C-8E40-4F87-A4F0-01A0687C5742}" type="datetimeFigureOut">
              <a:rPr lang="en-US" smtClean="0"/>
              <a:t>8/31/2026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118063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smtClean="0"/>
              <a:t>8/31/2026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56561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6D93-FCAC-47E0-A2EE-787E62CA814C}" type="datetimeFigureOut">
              <a:rPr lang="en-US" smtClean="0"/>
              <a:t>8/31/2026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488908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879A6-0FD0-4734-A311-86BFCA472E6E}" type="datetimeFigureOut">
              <a:rPr lang="en-US" smtClean="0"/>
              <a:t>8/31/2026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907637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67284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2BE451C3-0FF4-47C4-B829-773ADF60F88C}" type="datetimeFigureOut">
              <a:rPr lang="en-US" smtClean="0"/>
              <a:t>8/31/2026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5459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11" Type="http://schemas.openxmlformats.org/officeDocument/2006/relationships/image" Target="../media/image19.svg"/><Relationship Id="rId5" Type="http://schemas.openxmlformats.org/officeDocument/2006/relationships/image" Target="../media/image13.sv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003180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2597" y="518021"/>
            <a:ext cx="4366210" cy="58218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19814" y="1660227"/>
            <a:ext cx="6180181" cy="2570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0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Design and Simulation of a Digital Access Card Verification System Using XOR/XNOR Logic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719814" y="4539655"/>
            <a:ext cx="6180181" cy="658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 4-bit hardware authentication system for academic study in digital logic design.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003180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29" y="511175"/>
            <a:ext cx="4376628" cy="58356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91700" y="1309886"/>
            <a:ext cx="6180181" cy="610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8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Project Overview</a:t>
            </a:r>
            <a:endParaRPr lang="en-US" sz="3800" dirty="0"/>
          </a:p>
        </p:txBody>
      </p:sp>
      <p:sp>
        <p:nvSpPr>
          <p:cNvPr id="5" name="Shape 2"/>
          <p:cNvSpPr/>
          <p:nvPr/>
        </p:nvSpPr>
        <p:spPr>
          <a:xfrm>
            <a:off x="5291700" y="2198985"/>
            <a:ext cx="2997323" cy="1734145"/>
          </a:xfrm>
          <a:prstGeom prst="roundRect">
            <a:avLst>
              <a:gd name="adj" fmla="val 4733"/>
            </a:avLst>
          </a:prstGeom>
          <a:solidFill>
            <a:srgbClr val="003180"/>
          </a:solidFill>
          <a:ln w="6350">
            <a:solidFill>
              <a:srgbClr val="194A9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93406" y="2400697"/>
            <a:ext cx="2593910" cy="305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4-Bit System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5493406" y="2817316"/>
            <a:ext cx="2593910" cy="914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Develops a digital access card verification system using 4-bit binary codes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474558" y="2198985"/>
            <a:ext cx="2997323" cy="1734145"/>
          </a:xfrm>
          <a:prstGeom prst="roundRect">
            <a:avLst>
              <a:gd name="adj" fmla="val 4733"/>
            </a:avLst>
          </a:prstGeom>
          <a:solidFill>
            <a:srgbClr val="003180"/>
          </a:solidFill>
          <a:ln w="6350">
            <a:solidFill>
              <a:srgbClr val="194A9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76264" y="2400697"/>
            <a:ext cx="2593910" cy="305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XOR / XNOR Logic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8676264" y="2817316"/>
            <a:ext cx="2593910" cy="914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Uses XOR and XNOR gates for precise, secure bit-level authentication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291700" y="4118670"/>
            <a:ext cx="6180181" cy="1429445"/>
          </a:xfrm>
          <a:prstGeom prst="roundRect">
            <a:avLst>
              <a:gd name="adj" fmla="val 5741"/>
            </a:avLst>
          </a:prstGeom>
          <a:solidFill>
            <a:srgbClr val="003180"/>
          </a:solidFill>
          <a:ln w="6350">
            <a:solidFill>
              <a:srgbClr val="194A9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93406" y="4320381"/>
            <a:ext cx="5776768" cy="305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Real-Time Comparison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5493406" y="4737001"/>
            <a:ext cx="5776768" cy="6094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Compares stored card code with entered code instantly at every bit position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244" y="1867595"/>
            <a:ext cx="3122634" cy="31227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47389" y="1749127"/>
            <a:ext cx="6830742" cy="578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Why XOR/XNOR Logic?</a:t>
            </a:r>
            <a:endParaRPr lang="en-US" sz="36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47389" y="2515096"/>
            <a:ext cx="2165792" cy="257284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959424" y="2725539"/>
            <a:ext cx="1643319" cy="289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609D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XOR Gate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4959424" y="3181350"/>
            <a:ext cx="1643319" cy="1125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Outputs </a:t>
            </a:r>
            <a:r>
              <a:rPr lang="en-US" sz="145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1</a:t>
            </a: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when inputs differ (A ≠ B) — flags a mismatch</a:t>
            </a:r>
            <a:endParaRPr lang="en-US" sz="14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79765" y="2515096"/>
            <a:ext cx="2165891" cy="257284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291800" y="2725539"/>
            <a:ext cx="1643418" cy="289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609D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XNOR Gate</a:t>
            </a:r>
            <a:endParaRPr lang="en-US" sz="1800" dirty="0"/>
          </a:p>
        </p:txBody>
      </p:sp>
      <p:sp>
        <p:nvSpPr>
          <p:cNvPr id="9" name="Text 4"/>
          <p:cNvSpPr/>
          <p:nvPr/>
        </p:nvSpPr>
        <p:spPr>
          <a:xfrm>
            <a:off x="7291800" y="3181350"/>
            <a:ext cx="1643418" cy="1125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Outputs </a:t>
            </a:r>
            <a:r>
              <a:rPr lang="en-US" sz="145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1</a:t>
            </a: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when inputs match (A = B) — confirms equality</a:t>
            </a:r>
            <a:endParaRPr lang="en-US" sz="14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12240" y="2515096"/>
            <a:ext cx="2165792" cy="257284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624276" y="2725539"/>
            <a:ext cx="1643319" cy="578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609D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Ideal for Verification</a:t>
            </a:r>
            <a:endParaRPr lang="en-US" sz="1800" dirty="0"/>
          </a:p>
        </p:txBody>
      </p:sp>
      <p:sp>
        <p:nvSpPr>
          <p:cNvPr id="12" name="Text 6"/>
          <p:cNvSpPr/>
          <p:nvPr/>
        </p:nvSpPr>
        <p:spPr>
          <a:xfrm>
            <a:off x="9624276" y="3470573"/>
            <a:ext cx="1643319" cy="1406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Perfect for equality checking and bit-level authentication tasks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566440"/>
            <a:ext cx="10752067" cy="632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9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4-Bit System Architecture</a:t>
            </a:r>
            <a:endParaRPr lang="en-US" sz="3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5172" y="1597720"/>
            <a:ext cx="8361352" cy="38267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17472" y="4515750"/>
            <a:ext cx="1569763" cy="302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Output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6339139" y="4364549"/>
            <a:ext cx="1569763" cy="604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XNOR Verification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4371559" y="4515750"/>
            <a:ext cx="1569764" cy="302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Input Code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2360972" y="4515750"/>
            <a:ext cx="1569764" cy="302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Stored Code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719814" y="5648623"/>
            <a:ext cx="10752067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5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Each stage processes one 4-bit word — the system performs a parallel, bit-by-bit comparison in a single clock cycle.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51EE9A5-EE60-4469-9DBB-2C0BC0A01B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7576" y="-40940"/>
            <a:ext cx="12299575" cy="7001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4753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683022"/>
            <a:ext cx="10752067" cy="546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How the Verification Works</a:t>
            </a:r>
            <a:endParaRPr lang="en-US" sz="3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814" y="1619349"/>
            <a:ext cx="4388336" cy="43884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15413" y="2282230"/>
            <a:ext cx="5162818" cy="273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 Logic Chain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6315413" y="2703909"/>
            <a:ext cx="5772402" cy="258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 verification pipeline is elegant in its simplicity: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315413" y="3096320"/>
            <a:ext cx="5162818" cy="1190625"/>
          </a:xfrm>
          <a:prstGeom prst="rect">
            <a:avLst/>
          </a:prstGeom>
          <a:noFill/>
          <a:ln/>
        </p:spPr>
        <p:txBody>
          <a:bodyPr wrap="square" lIns="0" tIns="69934" rIns="0" bIns="0" rtlCol="0" anchor="t">
            <a:normAutofit/>
          </a:bodyPr>
          <a:lstStyle/>
          <a:p>
            <a:pPr marL="274320" indent="-274320" algn="l">
              <a:lnSpc>
                <a:spcPct val="123000"/>
              </a:lnSpc>
              <a:buSzPct val="100000"/>
              <a:buChar char="•"/>
            </a:pPr>
            <a:r>
              <a:rPr lang="en-US" sz="13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Each bit position gets its own dedicated XNOR gate</a:t>
            </a:r>
            <a:endParaRPr lang="en-US" sz="1350" dirty="0"/>
          </a:p>
          <a:p>
            <a:pPr marL="274320" indent="-274320" algn="l">
              <a:lnSpc>
                <a:spcPct val="123000"/>
              </a:lnSpc>
              <a:buSzPct val="100000"/>
              <a:buChar char="•"/>
            </a:pPr>
            <a:r>
              <a:rPr lang="en-US" sz="13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All 4 XNOR outputs converge at a single AND gate</a:t>
            </a:r>
            <a:endParaRPr lang="en-US" sz="1350" dirty="0"/>
          </a:p>
          <a:p>
            <a:pPr marL="274320" indent="-274320" algn="l">
              <a:lnSpc>
                <a:spcPct val="123000"/>
              </a:lnSpc>
              <a:buSzPct val="100000"/>
              <a:buChar char="•"/>
            </a:pPr>
            <a:r>
              <a:rPr lang="en-US" sz="13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 AND gate enforces a strict all-or-nothing rule</a:t>
            </a:r>
            <a:endParaRPr lang="en-US" sz="1350" dirty="0"/>
          </a:p>
          <a:p>
            <a:pPr marL="274320" indent="-274320" algn="l">
              <a:lnSpc>
                <a:spcPct val="123000"/>
              </a:lnSpc>
              <a:buSzPct val="100000"/>
              <a:buChar char="•"/>
            </a:pPr>
            <a:r>
              <a:rPr lang="en-US" sz="135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Output 1</a:t>
            </a:r>
            <a:r>
              <a:rPr lang="en-US" sz="13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= Access Granted  |  </a:t>
            </a:r>
            <a:r>
              <a:rPr lang="en-US" sz="135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Output 0</a:t>
            </a:r>
            <a:r>
              <a:rPr lang="en-US" sz="13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= Access Denied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315413" y="4454128"/>
            <a:ext cx="5162818" cy="872133"/>
          </a:xfrm>
          <a:prstGeom prst="roundRect">
            <a:avLst>
              <a:gd name="adj" fmla="val 8420"/>
            </a:avLst>
          </a:prstGeom>
          <a:solidFill>
            <a:srgbClr val="003180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0232" y="4677470"/>
            <a:ext cx="218474" cy="17482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883525" y="4631531"/>
            <a:ext cx="4419886" cy="517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Even a single mismatched bit drives the final output to 0.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1260872"/>
            <a:ext cx="10752067" cy="578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Truth Table Example</a:t>
            </a:r>
            <a:endParaRPr lang="en-US" sz="3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9814" y="2276673"/>
          <a:ext cx="6270565" cy="3120154"/>
        </p:xfrm>
        <a:graphic>
          <a:graphicData uri="http://schemas.openxmlformats.org/drawingml/2006/table">
            <a:tbl>
              <a:tblPr/>
              <a:tblGrid>
                <a:gridCol w="1254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4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41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41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541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784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Stored Code</a:t>
                      </a:r>
                      <a:endParaRPr lang="en-US" sz="145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85119" marR="185119" marT="6350" marB="6350" anchor="ctr">
                    <a:lnL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419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19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Input Code</a:t>
                      </a:r>
                      <a:endParaRPr lang="en-US" sz="145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85119" marR="185119" marT="6350" marB="6350" anchor="ctr">
                    <a:lnL w="12700" cap="flat" cmpd="sng" algn="ctr">
                      <a:solidFill>
                        <a:srgbClr val="0419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419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19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XNOR Bits</a:t>
                      </a:r>
                      <a:endParaRPr lang="en-US" sz="145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85119" marR="185119" marT="6350" marB="6350" anchor="ctr">
                    <a:lnL w="12700" cap="flat" cmpd="sng" algn="ctr">
                      <a:solidFill>
                        <a:srgbClr val="0419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419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19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AND Output</a:t>
                      </a:r>
                      <a:endParaRPr lang="en-US" sz="145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85119" marR="185119" marT="6350" marB="6350" anchor="ctr">
                    <a:lnL w="12700" cap="flat" cmpd="sng" algn="ctr">
                      <a:solidFill>
                        <a:srgbClr val="0419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419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19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Result</a:t>
                      </a:r>
                      <a:endParaRPr lang="en-US" sz="145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85119" marR="185119" marT="6350" marB="6350" anchor="ctr">
                    <a:lnL w="12700" cap="flat" cmpd="sng" algn="ctr">
                      <a:solidFill>
                        <a:srgbClr val="0419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19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16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1 0 1 0</a:t>
                      </a:r>
                      <a:endParaRPr lang="en-US" sz="145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85119" marR="185119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1 0 1 0</a:t>
                      </a:r>
                      <a:endParaRPr lang="en-US" sz="145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85119" marR="185119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1 1 1 1</a:t>
                      </a:r>
                      <a:endParaRPr lang="en-US" sz="145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85119" marR="185119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1</a:t>
                      </a:r>
                      <a:endParaRPr lang="en-US" sz="145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85119" marR="185119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000000"/>
                          </a:solidFill>
                          <a:latin typeface="Twemoji Mozilla, Apple Color Emoji, Segoe UI Emoji, Segoe UI Symbol, Noto Color Emoji, EmojiOne Color, Android Emoji, sans-serif" pitchFamily="34" charset="0"/>
                          <a:ea typeface="Twemoji Mozilla, Apple Color Emoji, Segoe UI Emoji, Segoe UI Symbol, Noto Color Emoji, EmojiOne Color, Android Emoji, sans-serif" pitchFamily="34" charset="-122"/>
                          <a:cs typeface="Twemoji Mozilla, Apple Color Emoji, Segoe UI Emoji, Segoe UI Symbol, Noto Color Emoji, EmojiOne Color, Android Emoji, sans-serif" pitchFamily="34" charset="-120"/>
                        </a:rPr>
                        <a:t> Granted</a:t>
                      </a:r>
                      <a:endParaRPr lang="en-US" sz="1450" dirty="0">
                        <a:latin typeface="Twemoji Mozilla, Apple Color Emoji, Segoe UI Emoji, Segoe UI Symbol, Noto Color Emoji, EmojiOne Color, Android Emoji, sans-serif" charset="0"/>
                        <a:ea typeface="Twemoji Mozilla, Apple Color Emoji, Segoe UI Emoji, Segoe UI Symbol, Noto Color Emoji, EmojiOne Color, Android Emoji, sans-serif" charset="0"/>
                        <a:cs typeface="Twemoji Mozilla, Apple Color Emoji, Segoe UI Emoji, Segoe UI Symbol, Noto Color Emoji, EmojiOne Color, Android Emoji, sans-serif" charset="0"/>
                      </a:endParaRPr>
                    </a:p>
                  </a:txBody>
                  <a:tcPr marL="185119" marR="185119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16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1 0 1 0</a:t>
                      </a:r>
                      <a:endParaRPr lang="en-US" sz="145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85119" marR="185119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1 0 1 1</a:t>
                      </a:r>
                      <a:endParaRPr lang="en-US" sz="145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85119" marR="185119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1 1 1 0</a:t>
                      </a:r>
                      <a:endParaRPr lang="en-US" sz="145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85119" marR="185119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0</a:t>
                      </a:r>
                      <a:endParaRPr lang="en-US" sz="145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85119" marR="185119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000000"/>
                          </a:solidFill>
                          <a:latin typeface="Twemoji Mozilla, Apple Color Emoji, Segoe UI Emoji, Segoe UI Symbol, Noto Color Emoji, EmojiOne Color, Android Emoji, sans-serif" pitchFamily="34" charset="0"/>
                          <a:ea typeface="Twemoji Mozilla, Apple Color Emoji, Segoe UI Emoji, Segoe UI Symbol, Noto Color Emoji, EmojiOne Color, Android Emoji, sans-serif" pitchFamily="34" charset="-122"/>
                          <a:cs typeface="Twemoji Mozilla, Apple Color Emoji, Segoe UI Emoji, Segoe UI Symbol, Noto Color Emoji, EmojiOne Color, Android Emoji, sans-serif" pitchFamily="34" charset="-120"/>
                        </a:rPr>
                        <a:t> Denied</a:t>
                      </a:r>
                      <a:endParaRPr lang="en-US" sz="1450" dirty="0">
                        <a:latin typeface="Twemoji Mozilla, Apple Color Emoji, Segoe UI Emoji, Segoe UI Symbol, Noto Color Emoji, EmojiOne Color, Android Emoji, sans-serif" charset="0"/>
                        <a:ea typeface="Twemoji Mozilla, Apple Color Emoji, Segoe UI Emoji, Segoe UI Symbol, Noto Color Emoji, EmojiOne Color, Android Emoji, sans-serif" charset="0"/>
                        <a:cs typeface="Twemoji Mozilla, Apple Color Emoji, Segoe UI Emoji, Segoe UI Symbol, Noto Color Emoji, EmojiOne Color, Android Emoji, sans-serif" charset="0"/>
                      </a:endParaRPr>
                    </a:p>
                  </a:txBody>
                  <a:tcPr marL="185119" marR="185119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84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1 0 1 0</a:t>
                      </a:r>
                      <a:endParaRPr lang="en-US" sz="145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85119" marR="185119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0 0 1 0</a:t>
                      </a:r>
                      <a:endParaRPr lang="en-US" sz="145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85119" marR="185119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0 1 1 1</a:t>
                      </a:r>
                      <a:endParaRPr lang="en-US" sz="145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85119" marR="185119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0</a:t>
                      </a:r>
                      <a:endParaRPr lang="en-US" sz="145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85119" marR="185119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000000"/>
                          </a:solidFill>
                          <a:latin typeface="Twemoji Mozilla, Apple Color Emoji, Segoe UI Emoji, Segoe UI Symbol, Noto Color Emoji, EmojiOne Color, Android Emoji, sans-serif" pitchFamily="34" charset="0"/>
                          <a:ea typeface="Twemoji Mozilla, Apple Color Emoji, Segoe UI Emoji, Segoe UI Symbol, Noto Color Emoji, EmojiOne Color, Android Emoji, sans-serif" pitchFamily="34" charset="-122"/>
                          <a:cs typeface="Twemoji Mozilla, Apple Color Emoji, Segoe UI Emoji, Segoe UI Symbol, Noto Color Emoji, EmojiOne Color, Android Emoji, sans-serif" pitchFamily="34" charset="-120"/>
                        </a:rPr>
                        <a:t> Denied</a:t>
                      </a:r>
                      <a:endParaRPr lang="en-US" sz="1450" dirty="0">
                        <a:latin typeface="Twemoji Mozilla, Apple Color Emoji, Segoe UI Emoji, Segoe UI Symbol, Noto Color Emoji, EmojiOne Color, Android Emoji, sans-serif" charset="0"/>
                        <a:ea typeface="Twemoji Mozilla, Apple Color Emoji, Segoe UI Emoji, Segoe UI Symbol, Noto Color Emoji, EmojiOne Color, Android Emoji, sans-serif" charset="0"/>
                        <a:cs typeface="Twemoji Mozilla, Apple Color Emoji, Segoe UI Emoji, Segoe UI Symbol, Noto Color Emoji, EmojiOne Color, Android Emoji, sans-serif" charset="0"/>
                      </a:endParaRPr>
                    </a:p>
                  </a:txBody>
                  <a:tcPr marL="185119" marR="185119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7448364" y="2255838"/>
            <a:ext cx="4029768" cy="289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Key Insight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7448364" y="2711648"/>
            <a:ext cx="4029768" cy="2119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spcAft>
                <a:spcPts val="1150"/>
              </a:spcAft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 system rejects any code with even a </a:t>
            </a:r>
            <a:r>
              <a:rPr lang="en-US" sz="145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single-bit mismatch</a:t>
            </a: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. The XNOR gate at that position outputs 0, which forces the AND gate — and the entire verification — to fail.</a:t>
            </a:r>
            <a:endParaRPr lang="en-US" sz="145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This zero-tolerance behavior is what makes XOR/XNOR logic ideal for security applications.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003180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73" y="469999"/>
            <a:ext cx="4438241" cy="59179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91700" y="1133971"/>
            <a:ext cx="6180181" cy="417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Circuit Implementation</a:t>
            </a:r>
            <a:endParaRPr lang="en-US" sz="26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91700" y="1682055"/>
            <a:ext cx="334160" cy="33416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291700" y="2124770"/>
            <a:ext cx="6180181" cy="208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4 × XNOR Gates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5291700" y="2385715"/>
            <a:ext cx="61801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One gate per bit position — each performs a single equality comparison</a:t>
            </a:r>
            <a:endParaRPr lang="en-US" sz="10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91700" y="2735957"/>
            <a:ext cx="334160" cy="334169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291700" y="3178671"/>
            <a:ext cx="6180181" cy="208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1 × AND Gate</a:t>
            </a:r>
            <a:endParaRPr lang="en-US" sz="1300" dirty="0"/>
          </a:p>
        </p:txBody>
      </p:sp>
      <p:sp>
        <p:nvSpPr>
          <p:cNvPr id="10" name="Text 5"/>
          <p:cNvSpPr/>
          <p:nvPr/>
        </p:nvSpPr>
        <p:spPr>
          <a:xfrm>
            <a:off x="5291700" y="3439616"/>
            <a:ext cx="61801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Combines all four XNOR outputs into a single pass/fail decision</a:t>
            </a:r>
            <a:endParaRPr lang="en-US" sz="10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291700" y="3789859"/>
            <a:ext cx="334160" cy="334169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291700" y="4232573"/>
            <a:ext cx="6180181" cy="208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LED Indicator</a:t>
            </a:r>
            <a:endParaRPr lang="en-US" sz="1300" dirty="0"/>
          </a:p>
        </p:txBody>
      </p:sp>
      <p:sp>
        <p:nvSpPr>
          <p:cNvPr id="13" name="Text 7"/>
          <p:cNvSpPr/>
          <p:nvPr/>
        </p:nvSpPr>
        <p:spPr>
          <a:xfrm>
            <a:off x="5291700" y="4493518"/>
            <a:ext cx="61801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Visual output — lights up green for access granted, red for denied</a:t>
            </a:r>
            <a:endParaRPr lang="en-US" sz="10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291700" y="4843760"/>
            <a:ext cx="334160" cy="334169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291700" y="5286474"/>
            <a:ext cx="6180181" cy="208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Scalable Design</a:t>
            </a:r>
            <a:endParaRPr lang="en-US" sz="1300" dirty="0"/>
          </a:p>
        </p:txBody>
      </p:sp>
      <p:sp>
        <p:nvSpPr>
          <p:cNvPr id="16" name="Text 9"/>
          <p:cNvSpPr/>
          <p:nvPr/>
        </p:nvSpPr>
        <p:spPr>
          <a:xfrm>
            <a:off x="5291700" y="5547420"/>
            <a:ext cx="61801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Simple, efficient architecture that scales cleanly to wider bit widths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871240"/>
            <a:ext cx="6813181" cy="12854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0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Applications &amp; Future Scope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19814" y="2388096"/>
            <a:ext cx="462745" cy="462756"/>
          </a:xfrm>
          <a:prstGeom prst="roundRect">
            <a:avLst>
              <a:gd name="adj" fmla="val 18669"/>
            </a:avLst>
          </a:prstGeom>
          <a:solidFill>
            <a:srgbClr val="003180"/>
          </a:solidFill>
          <a:ln w="12700">
            <a:solidFill>
              <a:srgbClr val="194A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88234" y="2458740"/>
            <a:ext cx="2609586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Real-World Security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88234" y="2985691"/>
            <a:ext cx="2609586" cy="987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Security systems, door locks, and ATM card verification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54890" y="2388096"/>
            <a:ext cx="462745" cy="462756"/>
          </a:xfrm>
          <a:prstGeom prst="roundRect">
            <a:avLst>
              <a:gd name="adj" fmla="val 18669"/>
            </a:avLst>
          </a:prstGeom>
          <a:solidFill>
            <a:srgbClr val="003180"/>
          </a:solidFill>
          <a:ln w="12700">
            <a:solidFill>
              <a:srgbClr val="194A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23310" y="2458740"/>
            <a:ext cx="2609685" cy="642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Scalable to Higher Security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923310" y="3306961"/>
            <a:ext cx="2609685" cy="987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Extend to 8-bit or 16-bit systems for exponentially more combinations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19814" y="4705350"/>
            <a:ext cx="462745" cy="462756"/>
          </a:xfrm>
          <a:prstGeom prst="roundRect">
            <a:avLst>
              <a:gd name="adj" fmla="val 18669"/>
            </a:avLst>
          </a:prstGeom>
          <a:solidFill>
            <a:srgbClr val="003180"/>
          </a:solidFill>
          <a:ln w="12700">
            <a:solidFill>
              <a:srgbClr val="194A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88234" y="4775994"/>
            <a:ext cx="6144761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Foundation for Cryptography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88234" y="5302945"/>
            <a:ext cx="6144761" cy="658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Core building block for modern cryptographic and encryption systems</a:t>
            </a:r>
            <a:endParaRPr lang="en-US" sz="16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1181" y="1710432"/>
            <a:ext cx="3436951" cy="343703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176</TotalTime>
  <Words>437</Words>
  <Application>Microsoft Office PowerPoint</Application>
  <PresentationFormat>Widescreen</PresentationFormat>
  <Paragraphs>78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Twemoji Mozilla, Apple Color Emoji, Segoe UI Emoji, Segoe UI Symbol, Noto Color Emoji, EmojiOne Color, Android Emoji, sans-serif</vt:lpstr>
      <vt:lpstr>Merriweather Bold</vt:lpstr>
      <vt:lpstr>Calibri Light</vt:lpstr>
      <vt:lpstr>Merriweather</vt:lpstr>
      <vt:lpstr>Calibri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J HARSHITH CHOWDARY</cp:lastModifiedBy>
  <cp:revision>3</cp:revision>
  <dcterms:created xsi:type="dcterms:W3CDTF">2026-08-31T08:20:44Z</dcterms:created>
  <dcterms:modified xsi:type="dcterms:W3CDTF">2026-08-31T12:53:47Z</dcterms:modified>
</cp:coreProperties>
</file>