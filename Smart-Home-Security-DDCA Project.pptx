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BEBE9B6-4519-B760-C012-C02C6A4C338A}">
          <p14:sldIdLst>
            <p14:sldId id="256"/>
          </p14:sldIdLst>
        </p14:section>
        <p14:section name="Design" id="{A31AB5CC-A4AA-4650-CD9D-ED6BC0291172}">
          <p14:sldIdLst>
            <p14:sldId id="257"/>
            <p14:sldId id="258"/>
          </p14:sldIdLst>
        </p14:section>
        <p14:section name="Build and test" id="{5D0DF557-ECBB-0E50-FB95-5AD9762859E9}">
          <p14:sldIdLst>
            <p14:sldId id="259"/>
            <p14:sldId id="260"/>
            <p14:sldId id="261"/>
            <p14:sldId id="262"/>
          </p14:sldIdLst>
        </p14:section>
        <p14:section name="Wrap-up" id="{A7841C90-5144-19FC-BBFC-70A82776CE5B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4730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234440"/>
            <a:ext cx="63093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Smart Home Security System  |  Batch 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Smart Home Security System  |  Batch 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228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SMART HOME SECURITY SYSTEM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23444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Design and Simulation of a </a:t>
            </a:r>
            <a:r>
              <a:rPr lang="en-US" sz="4000" b="1" dirty="0">
                <a:solidFill>
                  <a:schemeClr val="accent1"/>
                </a:solidFill>
              </a:rPr>
              <a:t>Smart Home Security System using Half Adder and Logic gates</a:t>
            </a:r>
            <a:endParaRPr lang="en-US" sz="4000" dirty="0"/>
          </a:p>
        </p:txBody>
      </p:sp>
      <p:sp>
        <p:nvSpPr>
          <p:cNvPr id="4" name="Batch"/>
          <p:cNvSpPr txBox="1"/>
          <p:nvPr/>
        </p:nvSpPr>
        <p:spPr>
          <a:xfrm>
            <a:off x="64008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PRESENTED BY BATCH : 11</a:t>
            </a:r>
            <a:endParaRPr lang="en-US" sz="1200" dirty="0"/>
          </a:p>
        </p:txBody>
      </p:sp>
      <p:sp>
        <p:nvSpPr>
          <p:cNvPr id="5" name="Team"/>
          <p:cNvSpPr txBox="1"/>
          <p:nvPr/>
        </p:nvSpPr>
        <p:spPr>
          <a:xfrm>
            <a:off x="640080" y="457200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HARSHINI  -  2620040066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JASMITHA  -  2620040033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HARSHITH  -  2620040115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LOHITH    -  2620040023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228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4"/>
                </a:solidFill>
              </a:rPr>
              <a:t>FOUNDATION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Introduction and Objective</a:t>
            </a:r>
            <a:endParaRPr lang="en-US" sz="34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1261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What problem are we modelling, and what should the circuit do?</a:t>
            </a:r>
            <a:endParaRPr lang="en-US" sz="1500" dirty="0"/>
          </a:p>
        </p:txBody>
      </p:sp>
      <p:sp>
        <p:nvSpPr>
          <p:cNvPr id="5" name="Intro card"/>
          <p:cNvSpPr/>
          <p:nvPr/>
        </p:nvSpPr>
        <p:spPr>
          <a:xfrm>
            <a:off x="640080" y="1828800"/>
            <a:ext cx="3749040" cy="434340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Head Introduction"/>
          <p:cNvSpPr txBox="1"/>
          <p:nvPr/>
        </p:nvSpPr>
        <p:spPr>
          <a:xfrm>
            <a:off x="914400" y="2011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Introduction</a:t>
            </a:r>
            <a:endParaRPr lang="en-US" sz="1600" dirty="0"/>
          </a:p>
        </p:txBody>
      </p:sp>
      <p:sp>
        <p:nvSpPr>
          <p:cNvPr id="7" name="Intro text"/>
          <p:cNvSpPr txBox="1"/>
          <p:nvPr/>
        </p:nvSpPr>
        <p:spPr>
          <a:xfrm>
            <a:off x="914400" y="237744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 home can have several possible entry points. Door, window, and motion sensors provide simple ON/OFF signals. Digital logic combines these signals to decide whether a possible intrusion should trigger an alarm.</a:t>
            </a:r>
            <a:endParaRPr lang="en-US" sz="1300" dirty="0"/>
          </a:p>
        </p:txBody>
      </p:sp>
      <p:sp>
        <p:nvSpPr>
          <p:cNvPr id="8" name="Head Project Objective"/>
          <p:cNvSpPr txBox="1"/>
          <p:nvPr/>
        </p:nvSpPr>
        <p:spPr>
          <a:xfrm>
            <a:off x="914400" y="41605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Project Objective</a:t>
            </a:r>
            <a:endParaRPr lang="en-US" sz="1600" dirty="0"/>
          </a:p>
        </p:txBody>
      </p:sp>
      <p:sp>
        <p:nvSpPr>
          <p:cNvPr id="9" name="Objective text"/>
          <p:cNvSpPr txBox="1"/>
          <p:nvPr/>
        </p:nvSpPr>
        <p:spPr>
          <a:xfrm>
            <a:off x="914400" y="45262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Build a digital circuit that counts active sensors, applies one of two security rules, and blocks the alarm whenever the system is disarmed.</a:t>
            </a:r>
            <a:endParaRPr lang="en-US" sz="1300" dirty="0"/>
          </a:p>
        </p:txBody>
      </p:sp>
      <p:sp>
        <p:nvSpPr>
          <p:cNvPr id="10" name="Output card"/>
          <p:cNvSpPr/>
          <p:nvPr/>
        </p:nvSpPr>
        <p:spPr>
          <a:xfrm>
            <a:off x="4572000" y="1828800"/>
            <a:ext cx="3383280" cy="434340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Head Output and Rule"/>
          <p:cNvSpPr txBox="1"/>
          <p:nvPr/>
        </p:nvSpPr>
        <p:spPr>
          <a:xfrm>
            <a:off x="4846320" y="20116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Output and Rule</a:t>
            </a:r>
            <a:endParaRPr lang="en-US" sz="1600" dirty="0"/>
          </a:p>
        </p:txBody>
      </p:sp>
      <p:sp>
        <p:nvSpPr>
          <p:cNvPr id="12" name="Output text"/>
          <p:cNvSpPr txBox="1"/>
          <p:nvPr/>
        </p:nvSpPr>
        <p:spPr>
          <a:xfrm>
            <a:off x="4846320" y="237744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Alarm output: </a:t>
            </a:r>
            <a:r>
              <a:rPr lang="en-US" sz="1300" dirty="0">
                <a:solidFill>
                  <a:schemeClr val="tx1"/>
                </a:solidFill>
              </a:rPr>
              <a:t>1 = alarm ON; 0 = alarm OFF. The alarm sounds only when the system is armed and the selected security condition is satisfied.</a:t>
            </a:r>
            <a:endParaRPr lang="en-US" sz="1300" dirty="0"/>
          </a:p>
        </p:txBody>
      </p:sp>
      <p:sp>
        <p:nvSpPr>
          <p:cNvPr id="13" name="Convention box"/>
          <p:cNvSpPr/>
          <p:nvPr/>
        </p:nvSpPr>
        <p:spPr>
          <a:xfrm>
            <a:off x="4846320" y="4343400"/>
            <a:ext cx="2834640" cy="1600200"/>
          </a:xfrm>
          <a:prstGeom prst="roundRect">
            <a:avLst>
              <a:gd name="adj" fmla="val 6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Convention text"/>
          <p:cNvSpPr txBox="1"/>
          <p:nvPr/>
        </p:nvSpPr>
        <p:spPr>
          <a:xfrm>
            <a:off x="4983480" y="443484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Logic convention: </a:t>
            </a:r>
            <a:r>
              <a:rPr lang="en-US" sz="1300" dirty="0">
                <a:solidFill>
                  <a:schemeClr val="tx1"/>
                </a:solidFill>
              </a:rPr>
              <a:t>A logic value of 1 means ON/active and a logic value of 0 means OFF/inactive throughout this project.</a:t>
            </a:r>
            <a:endParaRPr lang="en-US" sz="1300" dirty="0"/>
          </a:p>
        </p:txBody>
      </p:sp>
      <p:sp>
        <p:nvSpPr>
          <p:cNvPr id="15" name="Inputs card"/>
          <p:cNvSpPr/>
          <p:nvPr/>
        </p:nvSpPr>
        <p:spPr>
          <a:xfrm>
            <a:off x="8138160" y="1828800"/>
            <a:ext cx="3410712" cy="4343400"/>
          </a:xfrm>
          <a:prstGeom prst="roundRect">
            <a:avLst>
              <a:gd name="adj" fmla="val 321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Head Sensor Inputs"/>
          <p:cNvSpPr txBox="1"/>
          <p:nvPr/>
        </p:nvSpPr>
        <p:spPr>
          <a:xfrm>
            <a:off x="8412480" y="20116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Sensor Inputs</a:t>
            </a:r>
            <a:endParaRPr lang="en-US" sz="1600" dirty="0"/>
          </a:p>
        </p:txBody>
      </p:sp>
      <p:sp>
        <p:nvSpPr>
          <p:cNvPr id="17" name="Sensor Door (D)"/>
          <p:cNvSpPr txBox="1"/>
          <p:nvPr/>
        </p:nvSpPr>
        <p:spPr>
          <a:xfrm>
            <a:off x="8412480" y="2423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Door (D)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1 = open; 0 = closed</a:t>
            </a:r>
            <a:endParaRPr lang="en-US" sz="1400" dirty="0"/>
          </a:p>
        </p:txBody>
      </p:sp>
      <p:sp>
        <p:nvSpPr>
          <p:cNvPr id="18" name="Sensor Window (W)"/>
          <p:cNvSpPr txBox="1"/>
          <p:nvPr/>
        </p:nvSpPr>
        <p:spPr>
          <a:xfrm>
            <a:off x="8412480" y="2971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Window (W)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1 = open; 0 = closed</a:t>
            </a:r>
            <a:endParaRPr lang="en-US" sz="1400" dirty="0"/>
          </a:p>
        </p:txBody>
      </p:sp>
      <p:sp>
        <p:nvSpPr>
          <p:cNvPr id="19" name="Sensor Motion (M)"/>
          <p:cNvSpPr txBox="1"/>
          <p:nvPr/>
        </p:nvSpPr>
        <p:spPr>
          <a:xfrm>
            <a:off x="8412480" y="3520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Motion (M)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1 = movement detected; 0 = no movement</a:t>
            </a:r>
            <a:endParaRPr lang="en-US" sz="1400" dirty="0"/>
          </a:p>
        </p:txBody>
      </p:sp>
      <p:sp>
        <p:nvSpPr>
          <p:cNvPr id="20" name="Head Control Inputs"/>
          <p:cNvSpPr txBox="1"/>
          <p:nvPr/>
        </p:nvSpPr>
        <p:spPr>
          <a:xfrm>
            <a:off x="8412480" y="42062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Control Inputs</a:t>
            </a:r>
            <a:endParaRPr lang="en-US" sz="1600" dirty="0"/>
          </a:p>
        </p:txBody>
      </p:sp>
      <p:sp>
        <p:nvSpPr>
          <p:cNvPr id="21" name="Control Arming Switch"/>
          <p:cNvSpPr txBox="1"/>
          <p:nvPr/>
        </p:nvSpPr>
        <p:spPr>
          <a:xfrm>
            <a:off x="8412480" y="4617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Arming Switch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1 = security ON; 0 = OFF</a:t>
            </a:r>
            <a:endParaRPr lang="en-US" sz="1400" dirty="0"/>
          </a:p>
        </p:txBody>
      </p:sp>
      <p:sp>
        <p:nvSpPr>
          <p:cNvPr id="22" name="Control Mode Selector"/>
          <p:cNvSpPr txBox="1"/>
          <p:nvPr/>
        </p:nvSpPr>
        <p:spPr>
          <a:xfrm>
            <a:off x="8412480" y="5212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Mode Selector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0 = normal mode; 1 = strict mode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228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LOGIC MODEL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Theory and Logic Circuit</a:t>
            </a:r>
            <a:endParaRPr lang="en-US" sz="34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1261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How the sensor counter and security decision work</a:t>
            </a:r>
            <a:endParaRPr lang="en-US" sz="1500" dirty="0"/>
          </a:p>
        </p:txBody>
      </p:sp>
      <p:sp>
        <p:nvSpPr>
          <p:cNvPr id="5" name="Head 1. Half-Adder 1 — Inputs: Door (D) and Window (W)"/>
          <p:cNvSpPr txBox="1"/>
          <p:nvPr/>
        </p:nvSpPr>
        <p:spPr>
          <a:xfrm>
            <a:off x="640080" y="173736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1. Half-Adder 1 — Inputs: Door (D) and Window (W)</a:t>
            </a:r>
            <a:endParaRPr lang="en-US" sz="1600" dirty="0"/>
          </a:p>
        </p:txBody>
      </p:sp>
      <p:graphicFrame>
        <p:nvGraphicFramePr>
          <p:cNvPr id="6" name="HA1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84832"/>
          <a:ext cx="6126480" cy="93268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Expression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Meaning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Sum₁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 XOR W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 when inputs differ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Carry₁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 AND W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 when both are 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Head 2. Half-Adder 2 — Inputs: Sum₁ and Motion (M)"/>
          <p:cNvSpPr txBox="1"/>
          <p:nvPr/>
        </p:nvSpPr>
        <p:spPr>
          <a:xfrm>
            <a:off x="640080" y="320040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2. Half-Adder 2 — Inputs: Sum₁ and Motion (M)</a:t>
            </a:r>
            <a:endParaRPr lang="en-US" sz="1600" dirty="0"/>
          </a:p>
        </p:txBody>
      </p:sp>
      <p:graphicFrame>
        <p:nvGraphicFramePr>
          <p:cNvPr id="8" name="HA2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47872"/>
          <a:ext cx="6126480" cy="93268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Expression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Meaning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CountLow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Sum₁ XOR M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Low bit of sensor count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Carry₂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Sum₁ AND M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Second carry signal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Head 3. OR Gate — Count High Bit"/>
          <p:cNvSpPr txBox="1"/>
          <p:nvPr/>
        </p:nvSpPr>
        <p:spPr>
          <a:xfrm>
            <a:off x="640080" y="466344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3. OR Gate — Count High Bit</a:t>
            </a:r>
            <a:endParaRPr lang="en-US" sz="1600" dirty="0"/>
          </a:p>
        </p:txBody>
      </p:sp>
      <p:sp>
        <p:nvSpPr>
          <p:cNvPr id="10" name="OR expr"/>
          <p:cNvSpPr txBox="1"/>
          <p:nvPr/>
        </p:nvSpPr>
        <p:spPr>
          <a:xfrm>
            <a:off x="640080" y="50292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CountHigh = Carry₁ OR Carry₂</a:t>
            </a:r>
            <a:endParaRPr lang="en-US" sz="1500" dirty="0"/>
          </a:p>
        </p:txBody>
      </p:sp>
      <p:sp>
        <p:nvSpPr>
          <p:cNvPr id="11" name="Count line"/>
          <p:cNvSpPr txBox="1"/>
          <p:nvPr/>
        </p:nvSpPr>
        <p:spPr>
          <a:xfrm>
            <a:off x="640080" y="54406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The two bits together count active sensors from 0 to 3:</a:t>
            </a:r>
            <a:endParaRPr lang="en-US" sz="1300" dirty="0"/>
          </a:p>
        </p:txBody>
      </p:sp>
      <p:sp>
        <p:nvSpPr>
          <p:cNvPr id="12" name="Diagram panel"/>
          <p:cNvSpPr/>
          <p:nvPr/>
        </p:nvSpPr>
        <p:spPr>
          <a:xfrm>
            <a:off x="7132320" y="1737360"/>
            <a:ext cx="4416552" cy="4160520"/>
          </a:xfrm>
          <a:prstGeom prst="roundRect">
            <a:avLst>
              <a:gd name="adj" fmla="val 263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3" name="Gate image 1" descr="AND ga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874520"/>
            <a:ext cx="1280160" cy="719633"/>
          </a:xfrm>
          <a:prstGeom prst="rect">
            <a:avLst/>
          </a:prstGeom>
        </p:spPr>
      </p:pic>
      <p:pic>
        <p:nvPicPr>
          <p:cNvPr id="14" name="Gate image 2" descr="XOR ga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874520"/>
            <a:ext cx="1280160" cy="719633"/>
          </a:xfrm>
          <a:prstGeom prst="rect">
            <a:avLst/>
          </a:prstGeom>
        </p:spPr>
      </p:pic>
      <p:pic>
        <p:nvPicPr>
          <p:cNvPr id="15" name="Gate image 3" descr="OR gat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4120" y="1874520"/>
            <a:ext cx="1280160" cy="719633"/>
          </a:xfrm>
          <a:prstGeom prst="rect">
            <a:avLst/>
          </a:prstGeom>
        </p:spPr>
      </p:pic>
      <p:pic>
        <p:nvPicPr>
          <p:cNvPr id="16" name="Half-adder diagram" descr="Half-adder circuit with XOR and AND gat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2788920"/>
            <a:ext cx="3291840" cy="1856232"/>
          </a:xfrm>
          <a:prstGeom prst="rect">
            <a:avLst/>
          </a:prstGeom>
        </p:spPr>
      </p:pic>
      <p:sp>
        <p:nvSpPr>
          <p:cNvPr id="17" name="Diagram caption"/>
          <p:cNvSpPr txBox="1"/>
          <p:nvPr/>
        </p:nvSpPr>
        <p:spPr>
          <a:xfrm>
            <a:off x="7315200" y="4846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Circuit Diagram Placeholder</a:t>
            </a:r>
            <a:endParaRPr lang="en-US" sz="1300" dirty="0"/>
          </a:p>
        </p:txBody>
      </p:sp>
      <p:sp>
        <p:nvSpPr>
          <p:cNvPr id="18" name="Diagram labels"/>
          <p:cNvSpPr txBox="1"/>
          <p:nvPr/>
        </p:nvSpPr>
        <p:spPr>
          <a:xfrm>
            <a:off x="7315200" y="5212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Half-Adder 1    Half-Adder 2    OR Gate    AND Gate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228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4"/>
                </a:solidFill>
              </a:rPr>
              <a:t>IMPLEMENTATION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Circuit Design in Logisim</a:t>
            </a:r>
            <a:endParaRPr lang="en-US" sz="34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1261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Implementation, signal path, and Boolean expression</a:t>
            </a:r>
            <a:endParaRPr lang="en-US" sz="1500" dirty="0"/>
          </a:p>
        </p:txBody>
      </p:sp>
      <p:sp>
        <p:nvSpPr>
          <p:cNvPr id="5" name="Head Boolean Expressions"/>
          <p:cNvSpPr txBox="1"/>
          <p:nvPr/>
        </p:nvSpPr>
        <p:spPr>
          <a:xfrm>
            <a:off x="640080" y="17830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Boolean Expressions</a:t>
            </a:r>
            <a:endParaRPr lang="en-US" sz="1600" dirty="0"/>
          </a:p>
        </p:txBody>
      </p:sp>
      <p:graphicFrame>
        <p:nvGraphicFramePr>
          <p:cNvPr id="6" name="Boolea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5303520" cy="268833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Signal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Expression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CountLow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(D XOR W) XOR M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CountHigh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(D AND W) OR ((D XOR W) AND M)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Normal condition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CountHigh OR CountLow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Strict condition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CountHigh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Selected alarm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MUX(Normal, Strict, Mode)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Alarm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Armed AND Selected alarm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elect note box"/>
          <p:cNvSpPr/>
          <p:nvPr/>
        </p:nvSpPr>
        <p:spPr>
          <a:xfrm>
            <a:off x="640080" y="5029200"/>
            <a:ext cx="5303520" cy="96012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elect note"/>
          <p:cNvSpPr txBox="1"/>
          <p:nvPr/>
        </p:nvSpPr>
        <p:spPr>
          <a:xfrm>
            <a:off x="822960" y="50749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Select = 0 chooses normal mode; Select = 1 chooses strict mode. The selector does not arm the system.</a:t>
            </a:r>
            <a:endParaRPr lang="en-US" sz="1300" dirty="0"/>
          </a:p>
        </p:txBody>
      </p:sp>
      <p:sp>
        <p:nvSpPr>
          <p:cNvPr id="9" name="Head Signal Path"/>
          <p:cNvSpPr txBox="1"/>
          <p:nvPr/>
        </p:nvSpPr>
        <p:spPr>
          <a:xfrm>
            <a:off x="6400800" y="17830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Signal Path</a:t>
            </a:r>
            <a:endParaRPr lang="en-US" sz="1600" dirty="0"/>
          </a:p>
        </p:txBody>
      </p:sp>
      <p:sp>
        <p:nvSpPr>
          <p:cNvPr id="10" name="path n1"/>
          <p:cNvSpPr/>
          <p:nvPr/>
        </p:nvSpPr>
        <p:spPr>
          <a:xfrm>
            <a:off x="6419088" y="2231136"/>
            <a:ext cx="420624" cy="42062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path n1 label"/>
          <p:cNvSpPr txBox="1"/>
          <p:nvPr/>
        </p:nvSpPr>
        <p:spPr>
          <a:xfrm>
            <a:off x="6419088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</a:t>
            </a:r>
            <a:endParaRPr lang="en-US" sz="1200" dirty="0"/>
          </a:p>
        </p:txBody>
      </p:sp>
      <p:sp>
        <p:nvSpPr>
          <p:cNvPr id="12" name="Path Sensor Inputs"/>
          <p:cNvSpPr txBox="1"/>
          <p:nvPr/>
        </p:nvSpPr>
        <p:spPr>
          <a:xfrm>
            <a:off x="7040880" y="219456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Sensor Inputs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Door, window, and motion inputs enter the circuit</a:t>
            </a:r>
            <a:endParaRPr lang="en-US" sz="1400" dirty="0"/>
          </a:p>
        </p:txBody>
      </p:sp>
      <p:sp>
        <p:nvSpPr>
          <p:cNvPr id="13" name="path n2"/>
          <p:cNvSpPr/>
          <p:nvPr/>
        </p:nvSpPr>
        <p:spPr>
          <a:xfrm>
            <a:off x="6419088" y="2816352"/>
            <a:ext cx="420624" cy="42062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path n2 label"/>
          <p:cNvSpPr txBox="1"/>
          <p:nvPr/>
        </p:nvSpPr>
        <p:spPr>
          <a:xfrm>
            <a:off x="6419088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</a:t>
            </a:r>
            <a:endParaRPr lang="en-US" sz="1200" dirty="0"/>
          </a:p>
        </p:txBody>
      </p:sp>
      <p:sp>
        <p:nvSpPr>
          <p:cNvPr id="15" name="Path Half-Adder 1"/>
          <p:cNvSpPr txBox="1"/>
          <p:nvPr/>
        </p:nvSpPr>
        <p:spPr>
          <a:xfrm>
            <a:off x="7040880" y="2779776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Half-Adder 1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D + W → produces Sum₁ and Carry₁</a:t>
            </a:r>
            <a:endParaRPr lang="en-US" sz="1400" dirty="0"/>
          </a:p>
        </p:txBody>
      </p:sp>
      <p:sp>
        <p:nvSpPr>
          <p:cNvPr id="16" name="path n3"/>
          <p:cNvSpPr/>
          <p:nvPr/>
        </p:nvSpPr>
        <p:spPr>
          <a:xfrm>
            <a:off x="6419088" y="3401568"/>
            <a:ext cx="420624" cy="42062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path n3 label"/>
          <p:cNvSpPr txBox="1"/>
          <p:nvPr/>
        </p:nvSpPr>
        <p:spPr>
          <a:xfrm>
            <a:off x="6419088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Path Half-Adder 2"/>
          <p:cNvSpPr txBox="1"/>
          <p:nvPr/>
        </p:nvSpPr>
        <p:spPr>
          <a:xfrm>
            <a:off x="7040880" y="3364992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Half-Adder 2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Sum₁ + M → produces CountLow and Carry₂</a:t>
            </a:r>
            <a:endParaRPr lang="en-US" sz="1400" dirty="0"/>
          </a:p>
        </p:txBody>
      </p:sp>
      <p:sp>
        <p:nvSpPr>
          <p:cNvPr id="19" name="path n4"/>
          <p:cNvSpPr/>
          <p:nvPr/>
        </p:nvSpPr>
        <p:spPr>
          <a:xfrm>
            <a:off x="6419088" y="3986784"/>
            <a:ext cx="420624" cy="42062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path n4 label"/>
          <p:cNvSpPr txBox="1"/>
          <p:nvPr/>
        </p:nvSpPr>
        <p:spPr>
          <a:xfrm>
            <a:off x="6419088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</a:t>
            </a:r>
            <a:endParaRPr lang="en-US" sz="1200" dirty="0"/>
          </a:p>
        </p:txBody>
      </p:sp>
      <p:sp>
        <p:nvSpPr>
          <p:cNvPr id="21" name="Path OR Gate"/>
          <p:cNvSpPr txBox="1"/>
          <p:nvPr/>
        </p:nvSpPr>
        <p:spPr>
          <a:xfrm>
            <a:off x="7040880" y="3950208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OR Gate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Combines Carry₁ and Carry₂ to form CountHigh</a:t>
            </a:r>
            <a:endParaRPr lang="en-US" sz="1400" dirty="0"/>
          </a:p>
        </p:txBody>
      </p:sp>
      <p:sp>
        <p:nvSpPr>
          <p:cNvPr id="22" name="path n5"/>
          <p:cNvSpPr/>
          <p:nvPr/>
        </p:nvSpPr>
        <p:spPr>
          <a:xfrm>
            <a:off x="6419088" y="4572000"/>
            <a:ext cx="420624" cy="42062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path n5 label"/>
          <p:cNvSpPr txBox="1"/>
          <p:nvPr/>
        </p:nvSpPr>
        <p:spPr>
          <a:xfrm>
            <a:off x="6419088" y="4572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05</a:t>
            </a:r>
            <a:endParaRPr lang="en-US" sz="1200" dirty="0"/>
          </a:p>
        </p:txBody>
      </p:sp>
      <p:sp>
        <p:nvSpPr>
          <p:cNvPr id="24" name="Path Multiplexer"/>
          <p:cNvSpPr txBox="1"/>
          <p:nvPr/>
        </p:nvSpPr>
        <p:spPr>
          <a:xfrm>
            <a:off x="7040880" y="4535424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Multiplexer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Selects normal or strict rule based on Mode selector</a:t>
            </a:r>
            <a:endParaRPr lang="en-US" sz="1400" dirty="0"/>
          </a:p>
        </p:txBody>
      </p:sp>
      <p:sp>
        <p:nvSpPr>
          <p:cNvPr id="25" name="path n6"/>
          <p:cNvSpPr/>
          <p:nvPr/>
        </p:nvSpPr>
        <p:spPr>
          <a:xfrm>
            <a:off x="6419088" y="5157216"/>
            <a:ext cx="420624" cy="42062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path n6 label"/>
          <p:cNvSpPr txBox="1"/>
          <p:nvPr/>
        </p:nvSpPr>
        <p:spPr>
          <a:xfrm>
            <a:off x="6419088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06</a:t>
            </a:r>
            <a:endParaRPr lang="en-US" sz="1200" dirty="0"/>
          </a:p>
        </p:txBody>
      </p:sp>
      <p:sp>
        <p:nvSpPr>
          <p:cNvPr id="27" name="Path AND Gate"/>
          <p:cNvSpPr txBox="1"/>
          <p:nvPr/>
        </p:nvSpPr>
        <p:spPr>
          <a:xfrm>
            <a:off x="7040880" y="512064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AND Gate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Combines selected signal with Armed switch</a:t>
            </a:r>
            <a:endParaRPr lang="en-US" sz="1400" dirty="0"/>
          </a:p>
        </p:txBody>
      </p:sp>
      <p:sp>
        <p:nvSpPr>
          <p:cNvPr id="28" name="path n7"/>
          <p:cNvSpPr/>
          <p:nvPr/>
        </p:nvSpPr>
        <p:spPr>
          <a:xfrm>
            <a:off x="6419088" y="5742432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path n7 label"/>
          <p:cNvSpPr txBox="1"/>
          <p:nvPr/>
        </p:nvSpPr>
        <p:spPr>
          <a:xfrm>
            <a:off x="6419088" y="5742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07</a:t>
            </a:r>
            <a:endParaRPr lang="en-US" sz="1200" dirty="0"/>
          </a:p>
        </p:txBody>
      </p:sp>
      <p:sp>
        <p:nvSpPr>
          <p:cNvPr id="30" name="Path Alarm Output"/>
          <p:cNvSpPr txBox="1"/>
          <p:nvPr/>
        </p:nvSpPr>
        <p:spPr>
          <a:xfrm>
            <a:off x="7040880" y="5705856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Alarm Output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Final 1-bit alarm result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eenshot frame"/>
          <p:cNvSpPr/>
          <p:nvPr/>
        </p:nvSpPr>
        <p:spPr>
          <a:xfrm>
            <a:off x="1417320" y="457200"/>
            <a:ext cx="9372600" cy="5760720"/>
          </a:xfrm>
          <a:prstGeom prst="roundRect">
            <a:avLst>
              <a:gd name="adj" fmla="val 19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Logisim screenshot" descr="Logisim circuit with half-adders, OR gate, multiplexer and arm gate"/>
          <p:cNvPicPr>
            <a:picLocks noChangeAspect="1"/>
          </p:cNvPicPr>
          <p:nvPr/>
        </p:nvPicPr>
        <p:blipFill>
          <a:blip r:embed="rId3"/>
          <a:srcRect l="-1250" r="-1250"/>
          <a:stretch/>
        </p:blipFill>
        <p:spPr>
          <a:xfrm>
            <a:off x="1554480" y="594360"/>
            <a:ext cx="9098280" cy="54864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frame"/>
          <p:cNvSpPr/>
          <p:nvPr/>
        </p:nvSpPr>
        <p:spPr>
          <a:xfrm>
            <a:off x="3657600" y="365760"/>
            <a:ext cx="4873752" cy="5943600"/>
          </a:xfrm>
          <a:prstGeom prst="roundRect">
            <a:avLst>
              <a:gd name="adj" fmla="val 225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Logisim truth table" descr="Full Logisim truth tab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94760" y="502920"/>
            <a:ext cx="4599432" cy="566928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228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4"/>
                </a:solidFill>
              </a:rPr>
              <a:t>VERIFICATION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Simulation Results</a:t>
            </a:r>
            <a:endParaRPr lang="en-US" sz="3400" dirty="0"/>
          </a:p>
        </p:txBody>
      </p:sp>
      <p:sp>
        <p:nvSpPr>
          <p:cNvPr id="4" name="Head Truth Table — Sensor Count vs. Mode"/>
          <p:cNvSpPr txBox="1"/>
          <p:nvPr/>
        </p:nvSpPr>
        <p:spPr>
          <a:xfrm>
            <a:off x="640080" y="13716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Truth Table — Sensor Count vs. Mode</a:t>
            </a:r>
            <a:endParaRPr lang="en-US" sz="1600" dirty="0"/>
          </a:p>
        </p:txBody>
      </p:sp>
      <p:graphicFrame>
        <p:nvGraphicFramePr>
          <p:cNvPr id="8" name="Mod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5760720" cy="18288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Active Sensors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Count (High, Low)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Normal Mode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Strict Mode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0 0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One sensor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0 1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Two sensors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1 0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Three sensors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1 1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Mode note box"/>
          <p:cNvSpPr/>
          <p:nvPr/>
        </p:nvSpPr>
        <p:spPr>
          <a:xfrm>
            <a:off x="640080" y="3749040"/>
            <a:ext cx="576072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Mode note"/>
          <p:cNvSpPr txBox="1"/>
          <p:nvPr/>
        </p:nvSpPr>
        <p:spPr>
          <a:xfrm>
            <a:off x="822960" y="37490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Normal mode triggers for 1, 2, or 3 active sensors. Strict mode triggers only for 2 or 3 active sensors.</a:t>
            </a:r>
            <a:endParaRPr lang="en-US" sz="1300" dirty="0"/>
          </a:p>
        </p:txBody>
      </p:sp>
      <p:pic>
        <p:nvPicPr>
          <p:cNvPr id="5" name="Evidence image" descr="Extra Logisim test evidenc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4800600"/>
            <a:ext cx="5760720" cy="1234440"/>
          </a:xfrm>
          <a:prstGeom prst="rect">
            <a:avLst/>
          </a:prstGeom>
        </p:spPr>
      </p:pic>
      <p:sp>
        <p:nvSpPr>
          <p:cNvPr id="9" name="Head How to Test"/>
          <p:cNvSpPr txBox="1"/>
          <p:nvPr/>
        </p:nvSpPr>
        <p:spPr>
          <a:xfrm>
            <a:off x="6858000" y="13716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to Test</a:t>
            </a:r>
            <a:endParaRPr lang="en-US" sz="1600" dirty="0"/>
          </a:p>
        </p:txBody>
      </p:sp>
      <p:sp>
        <p:nvSpPr>
          <p:cNvPr id="10" name="test n1"/>
          <p:cNvSpPr/>
          <p:nvPr/>
        </p:nvSpPr>
        <p:spPr>
          <a:xfrm>
            <a:off x="6876288" y="1874520"/>
            <a:ext cx="420624" cy="42062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st n1 label"/>
          <p:cNvSpPr txBox="1"/>
          <p:nvPr/>
        </p:nvSpPr>
        <p:spPr>
          <a:xfrm>
            <a:off x="6876288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st Arm the System"/>
          <p:cNvSpPr txBox="1"/>
          <p:nvPr/>
        </p:nvSpPr>
        <p:spPr>
          <a:xfrm>
            <a:off x="7498080" y="178308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Arm the System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Set Armed = 1 to test alarm responses</a:t>
            </a:r>
            <a:endParaRPr lang="en-US" sz="1400" dirty="0"/>
          </a:p>
        </p:txBody>
      </p:sp>
      <p:sp>
        <p:nvSpPr>
          <p:cNvPr id="13" name="test n2"/>
          <p:cNvSpPr/>
          <p:nvPr/>
        </p:nvSpPr>
        <p:spPr>
          <a:xfrm>
            <a:off x="6876288" y="2606040"/>
            <a:ext cx="420624" cy="42062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st n2 label"/>
          <p:cNvSpPr txBox="1"/>
          <p:nvPr/>
        </p:nvSpPr>
        <p:spPr>
          <a:xfrm>
            <a:off x="6876288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st Change Mode"/>
          <p:cNvSpPr txBox="1"/>
          <p:nvPr/>
        </p:nvSpPr>
        <p:spPr>
          <a:xfrm>
            <a:off x="7498080" y="251460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Change Mode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Mode = 0 for normal; Mode = 1 for strict</a:t>
            </a:r>
            <a:endParaRPr lang="en-US" sz="1400" dirty="0"/>
          </a:p>
        </p:txBody>
      </p:sp>
      <p:sp>
        <p:nvSpPr>
          <p:cNvPr id="16" name="test n3"/>
          <p:cNvSpPr/>
          <p:nvPr/>
        </p:nvSpPr>
        <p:spPr>
          <a:xfrm>
            <a:off x="6876288" y="3337560"/>
            <a:ext cx="420624" cy="42062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st n3 label"/>
          <p:cNvSpPr txBox="1"/>
          <p:nvPr/>
        </p:nvSpPr>
        <p:spPr>
          <a:xfrm>
            <a:off x="6876288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st Disarm Test"/>
          <p:cNvSpPr txBox="1"/>
          <p:nvPr/>
        </p:nvSpPr>
        <p:spPr>
          <a:xfrm>
            <a:off x="7498080" y="324612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Disarm Test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With Armed = 0, alarm is OFF for every sensor combination</a:t>
            </a:r>
            <a:endParaRPr lang="en-US" sz="1400" dirty="0"/>
          </a:p>
        </p:txBody>
      </p:sp>
      <p:sp>
        <p:nvSpPr>
          <p:cNvPr id="19" name="test n4"/>
          <p:cNvSpPr/>
          <p:nvPr/>
        </p:nvSpPr>
        <p:spPr>
          <a:xfrm>
            <a:off x="6876288" y="4069080"/>
            <a:ext cx="420624" cy="42062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st n4 label"/>
          <p:cNvSpPr txBox="1"/>
          <p:nvPr/>
        </p:nvSpPr>
        <p:spPr>
          <a:xfrm>
            <a:off x="6876288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st Troubleshoot"/>
          <p:cNvSpPr txBox="1"/>
          <p:nvPr/>
        </p:nvSpPr>
        <p:spPr>
          <a:xfrm>
            <a:off x="7498080" y="397764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Troubleshoot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If output differs, check the MUX select pin, sensor inputs, and arming switch</a:t>
            </a:r>
            <a:endParaRPr lang="en-US" sz="1400" dirty="0"/>
          </a:p>
        </p:txBody>
      </p:sp>
      <p:sp>
        <p:nvSpPr>
          <p:cNvPr id="22" name="Evidence card"/>
          <p:cNvSpPr/>
          <p:nvPr/>
        </p:nvSpPr>
        <p:spPr>
          <a:xfrm>
            <a:off x="6858000" y="4800600"/>
            <a:ext cx="469087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Evidence text"/>
          <p:cNvSpPr txBox="1"/>
          <p:nvPr/>
        </p:nvSpPr>
        <p:spPr>
          <a:xfrm>
            <a:off x="7040880" y="484632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Truth Table / Extra Test Evidence Placeholder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Insert your full truth table or additional Logisim screenshots here. Include the three sensor inputs, mode selection, arming switch, and expected alarm output.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228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CLOSE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 and Applications</a:t>
            </a:r>
            <a:endParaRPr lang="en-US" sz="3400" dirty="0"/>
          </a:p>
        </p:txBody>
      </p:sp>
      <p:sp>
        <p:nvSpPr>
          <p:cNvPr id="4" name="Conclusion card"/>
          <p:cNvSpPr/>
          <p:nvPr/>
        </p:nvSpPr>
        <p:spPr>
          <a:xfrm>
            <a:off x="640080" y="1463040"/>
            <a:ext cx="4114800" cy="470916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Head Conclusion"/>
          <p:cNvSpPr txBox="1"/>
          <p:nvPr/>
        </p:nvSpPr>
        <p:spPr>
          <a:xfrm>
            <a:off x="914400" y="16459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Conclusion</a:t>
            </a:r>
            <a:endParaRPr lang="en-US" sz="1600" dirty="0"/>
          </a:p>
        </p:txBody>
      </p:sp>
      <p:sp>
        <p:nvSpPr>
          <p:cNvPr id="6" name="Conclusion bullets"/>
          <p:cNvSpPr txBox="1"/>
          <p:nvPr/>
        </p:nvSpPr>
        <p:spPr>
          <a:xfrm>
            <a:off x="914400" y="2057400"/>
            <a:ext cx="3566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Sensors represent doors, windows, and movement in a protected area.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Half-adders count the active sensors; the OR gate combines carry signals.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The multiplexer selects normal or strict mode.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The final AND gate ensures the alarm only works when armed.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The project demonstrates half-adders, XOR, OR, AND, and multiplexer logic in one design.</a:t>
            </a:r>
            <a:endParaRPr lang="en-US" sz="1400" dirty="0"/>
          </a:p>
        </p:txBody>
      </p:sp>
      <p:sp>
        <p:nvSpPr>
          <p:cNvPr id="7" name="Applications card"/>
          <p:cNvSpPr/>
          <p:nvPr/>
        </p:nvSpPr>
        <p:spPr>
          <a:xfrm>
            <a:off x="4937760" y="1463040"/>
            <a:ext cx="3200400" cy="470916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Head Applications"/>
          <p:cNvSpPr txBox="1"/>
          <p:nvPr/>
        </p:nvSpPr>
        <p:spPr>
          <a:xfrm>
            <a:off x="5212080" y="1645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Applications</a:t>
            </a:r>
            <a:endParaRPr lang="en-US" sz="1600" dirty="0"/>
          </a:p>
        </p:txBody>
      </p:sp>
      <p:pic>
        <p:nvPicPr>
          <p:cNvPr id="9" name="icon Homes &amp; Apartments" descr="Homes &amp; Apartmen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194560"/>
            <a:ext cx="310896" cy="310896"/>
          </a:xfrm>
          <a:prstGeom prst="rect">
            <a:avLst/>
          </a:prstGeom>
        </p:spPr>
      </p:pic>
      <p:sp>
        <p:nvSpPr>
          <p:cNvPr id="10" name="App Homes &amp;amp; Apartments"/>
          <p:cNvSpPr txBox="1"/>
          <p:nvPr/>
        </p:nvSpPr>
        <p:spPr>
          <a:xfrm>
            <a:off x="566928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Homes &amp; Apartments</a:t>
            </a:r>
            <a:endParaRPr lang="en-US" sz="1400" dirty="0"/>
          </a:p>
        </p:txBody>
      </p:sp>
      <p:pic>
        <p:nvPicPr>
          <p:cNvPr id="11" name="icon Laboratories &amp; Offices" descr="Laboratories &amp; Offic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761488"/>
            <a:ext cx="310896" cy="310896"/>
          </a:xfrm>
          <a:prstGeom prst="rect">
            <a:avLst/>
          </a:prstGeom>
        </p:spPr>
      </p:pic>
      <p:sp>
        <p:nvSpPr>
          <p:cNvPr id="12" name="App Laboratories &amp;amp; Offices"/>
          <p:cNvSpPr txBox="1"/>
          <p:nvPr/>
        </p:nvSpPr>
        <p:spPr>
          <a:xfrm>
            <a:off x="5669280" y="26700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Laboratories &amp; Offices</a:t>
            </a:r>
            <a:endParaRPr lang="en-US" sz="1400" dirty="0"/>
          </a:p>
        </p:txBody>
      </p:sp>
      <p:pic>
        <p:nvPicPr>
          <p:cNvPr id="13" name="icon Small Storage Rooms" descr="Small Storage Room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3328416"/>
            <a:ext cx="310896" cy="310896"/>
          </a:xfrm>
          <a:prstGeom prst="rect">
            <a:avLst/>
          </a:prstGeom>
        </p:spPr>
      </p:pic>
      <p:sp>
        <p:nvSpPr>
          <p:cNvPr id="14" name="App Small Storage Rooms"/>
          <p:cNvSpPr txBox="1"/>
          <p:nvPr/>
        </p:nvSpPr>
        <p:spPr>
          <a:xfrm>
            <a:off x="5669280" y="32369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Small Storage Rooms</a:t>
            </a:r>
            <a:endParaRPr lang="en-US" sz="1400" dirty="0"/>
          </a:p>
        </p:txBody>
      </p:sp>
      <p:sp>
        <p:nvSpPr>
          <p:cNvPr id="15" name="Adapt note"/>
          <p:cNvSpPr txBox="1"/>
          <p:nvPr/>
        </p:nvSpPr>
        <p:spPr>
          <a:xfrm>
            <a:off x="5212080" y="3840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The same logic concept can be adapted to other protected areas.</a:t>
            </a:r>
            <a:endParaRPr lang="en-US" sz="1200" dirty="0"/>
          </a:p>
        </p:txBody>
      </p:sp>
      <p:sp>
        <p:nvSpPr>
          <p:cNvPr id="16" name="Limitation box"/>
          <p:cNvSpPr/>
          <p:nvPr/>
        </p:nvSpPr>
        <p:spPr>
          <a:xfrm>
            <a:off x="5166360" y="4526280"/>
            <a:ext cx="2743200" cy="150876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Limitation text"/>
          <p:cNvSpPr txBox="1"/>
          <p:nvPr/>
        </p:nvSpPr>
        <p:spPr>
          <a:xfrm>
            <a:off x="5303520" y="457200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Limitation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This is a digital logic simulation, not a complete real alarm. A real installation also needs physical sensors, power, a siren driver, and safe installation.</a:t>
            </a:r>
            <a:endParaRPr lang="en-US" sz="1300" dirty="0"/>
          </a:p>
        </p:txBody>
      </p:sp>
      <p:sp>
        <p:nvSpPr>
          <p:cNvPr id="18" name="Improvements card"/>
          <p:cNvSpPr/>
          <p:nvPr/>
        </p:nvSpPr>
        <p:spPr>
          <a:xfrm>
            <a:off x="8321040" y="1463040"/>
            <a:ext cx="3227832" cy="4709160"/>
          </a:xfrm>
          <a:prstGeom prst="roundRect">
            <a:avLst>
              <a:gd name="adj" fmla="val 339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Head Possible Improvements"/>
          <p:cNvSpPr txBox="1"/>
          <p:nvPr/>
        </p:nvSpPr>
        <p:spPr>
          <a:xfrm>
            <a:off x="8595360" y="1645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Possible Improvements</a:t>
            </a:r>
            <a:endParaRPr lang="en-US" sz="1600" dirty="0"/>
          </a:p>
        </p:txBody>
      </p:sp>
      <p:sp>
        <p:nvSpPr>
          <p:cNvPr id="20" name="Improve Siren / Notification Output"/>
          <p:cNvSpPr txBox="1"/>
          <p:nvPr/>
        </p:nvSpPr>
        <p:spPr>
          <a:xfrm>
            <a:off x="8595360" y="21031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Siren / Notification Output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Add a real siren or notification output for physical alerting</a:t>
            </a:r>
            <a:endParaRPr lang="en-US" sz="1400" dirty="0"/>
          </a:p>
        </p:txBody>
      </p:sp>
      <p:sp>
        <p:nvSpPr>
          <p:cNvPr id="21" name="Improve More Sensors"/>
          <p:cNvSpPr txBox="1"/>
          <p:nvPr/>
        </p:nvSpPr>
        <p:spPr>
          <a:xfrm>
            <a:off x="8595360" y="308152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More Sensors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Include additional sensor inputs to cover more entry points</a:t>
            </a:r>
            <a:endParaRPr lang="en-US" sz="1400" dirty="0"/>
          </a:p>
        </p:txBody>
      </p:sp>
      <p:sp>
        <p:nvSpPr>
          <p:cNvPr id="22" name="Improve Delay or Entry Code"/>
          <p:cNvSpPr txBox="1"/>
          <p:nvPr/>
        </p:nvSpPr>
        <p:spPr>
          <a:xfrm>
            <a:off x="8595360" y="405993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Delay or Entry Code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Add a delay timer or PIN-based entry code for usability</a:t>
            </a:r>
            <a:endParaRPr lang="en-US" sz="1400" dirty="0"/>
          </a:p>
        </p:txBody>
      </p:sp>
      <p:sp>
        <p:nvSpPr>
          <p:cNvPr id="23" name="Improve Real Hardware"/>
          <p:cNvSpPr txBox="1"/>
          <p:nvPr/>
        </p:nvSpPr>
        <p:spPr>
          <a:xfrm>
            <a:off x="8595360" y="503834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Real Hardware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Test the circuit with real hardware after safe design review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tinel Dark">
  <a:themeElements>
    <a:clrScheme name="Sentinel Dark">
      <a:dk1>
        <a:srgbClr val="10141B"/>
      </a:dk1>
      <a:lt1>
        <a:srgbClr val="FFFFFF"/>
      </a:lt1>
      <a:dk2>
        <a:srgbClr val="1D2533"/>
      </a:dk2>
      <a:lt2>
        <a:srgbClr val="EDF0F5"/>
      </a:lt2>
      <a:accent1>
        <a:srgbClr val="FFB400"/>
      </a:accent1>
      <a:accent2>
        <a:srgbClr val="FF4D4F"/>
      </a:accent2>
      <a:accent3>
        <a:srgbClr val="2EC4B6"/>
      </a:accent3>
      <a:accent4>
        <a:srgbClr val="5C6B80"/>
      </a:accent4>
      <a:accent5>
        <a:srgbClr val="A9B4C4"/>
      </a:accent5>
      <a:accent6>
        <a:srgbClr val="3A4658"/>
      </a:accent6>
      <a:hlink>
        <a:srgbClr val="FFB400"/>
      </a:hlink>
      <a:folHlink>
        <a:srgbClr val="A9B4C4"/>
      </a:folHlink>
    </a:clrScheme>
    <a:fontScheme name="Sentinel Dar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889</Words>
  <Application>Microsoft Office PowerPoint</Application>
  <PresentationFormat>Widescreen</PresentationFormat>
  <Paragraphs>176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Sentinel Dark</vt:lpstr>
      <vt:lpstr>Design and Simulation of a Smart Home Security System using Half Adder and Logic gates</vt:lpstr>
      <vt:lpstr>Introduction and Objective</vt:lpstr>
      <vt:lpstr>Theory and Logic Circuit</vt:lpstr>
      <vt:lpstr>Circuit Design in Logisim</vt:lpstr>
      <vt:lpstr>PowerPoint Presentation</vt:lpstr>
      <vt:lpstr>PowerPoint Presentation</vt:lpstr>
      <vt:lpstr>Simulation Results</vt:lpstr>
      <vt:lpstr>Conclusion and Applications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Three Sensors, One Decision - Smart Home Security System</dc:title>
  <dc:subject>PptxGenJS Presentation</dc:subject>
  <dc:creator>PptxGenJS</dc:creator>
  <cp:lastModifiedBy>J HARSHITH CHOWDARY</cp:lastModifiedBy>
  <cp:revision>3</cp:revision>
  <dcterms:created xsi:type="dcterms:W3CDTF">2026-10-15T04:45:42Z</dcterms:created>
  <dcterms:modified xsi:type="dcterms:W3CDTF">2026-10-15T06:05:59Z</dcterms:modified>
</cp:coreProperties>
</file>