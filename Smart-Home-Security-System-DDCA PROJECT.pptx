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Fira Sans Extra Condensed Bold" panose="020B0604020202020204" charset="0"/>
      <p:regular r:id="rId15"/>
    </p:embeddedFont>
    <p:embeddedFont>
      <p:font typeface="Golos Text" panose="020B0604020202020204" charset="0"/>
      <p:regular r:id="rId16"/>
    </p:embeddedFont>
    <p:embeddedFont>
      <p:font typeface="Golos Text Bold" panose="020B0604020202020204" charset="0"/>
      <p:regular r:id="rId17"/>
    </p:embeddedFont>
    <p:embeddedFont>
      <p:font typeface="Golos Text SemiBold" panose="020B0604020202020204" charset="0"/>
      <p:regular r:id="rId18"/>
    </p:embeddedFont>
    <p:embeddedFont>
      <p:font typeface="JetBrains Mono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72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0949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D2E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tel:2620040115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tel:2620040066" TargetMode="External"/><Relationship Id="rId5" Type="http://schemas.openxmlformats.org/officeDocument/2006/relationships/hyperlink" Target="tel:2620040033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8259"/>
            <a:ext cx="6804212" cy="6678706"/>
          </a:xfrm>
          <a:prstGeom prst="rect">
            <a:avLst/>
          </a:prstGeom>
          <a:solidFill>
            <a:srgbClr val="C9D0F4"/>
          </a:solidFill>
          <a:ln/>
        </p:spPr>
      </p:sp>
      <p:sp>
        <p:nvSpPr>
          <p:cNvPr id="3" name="Text 1"/>
          <p:cNvSpPr/>
          <p:nvPr/>
        </p:nvSpPr>
        <p:spPr>
          <a:xfrm>
            <a:off x="711182" y="614090"/>
            <a:ext cx="701022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1F2B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 HOME SECURITY SYSTEM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1182" y="944543"/>
            <a:ext cx="6578435" cy="1737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800" b="1" kern="100" spc="-48" dirty="0">
                <a:solidFill>
                  <a:srgbClr val="1F2B52"/>
                </a:solidFill>
                <a:latin typeface="Fira Sans Extra Condensed Bold" pitchFamily="34" charset="0"/>
                <a:ea typeface="Fira Sans Extra Condensed Bold" pitchFamily="34" charset="-122"/>
                <a:cs typeface="Fira Sans Extra Condensed Bold" pitchFamily="34" charset="-120"/>
              </a:rPr>
              <a:t>Design and Simulation</a:t>
            </a:r>
            <a:endParaRPr lang="en-US" sz="4800" dirty="0"/>
          </a:p>
          <a:p>
            <a:pPr marL="0" indent="0" algn="l">
              <a:lnSpc>
                <a:spcPct val="79000"/>
              </a:lnSpc>
              <a:buNone/>
            </a:pPr>
            <a:r>
              <a:rPr lang="en-US" sz="4800" b="1" kern="100" spc="-48" dirty="0">
                <a:solidFill>
                  <a:srgbClr val="1F2B52"/>
                </a:solidFill>
                <a:latin typeface="Fira Sans Extra Condensed Bold" pitchFamily="34" charset="0"/>
                <a:ea typeface="Fira Sans Extra Condensed Bold" pitchFamily="34" charset="-122"/>
                <a:cs typeface="Fira Sans Extra Condensed Bold" pitchFamily="34" charset="-120"/>
              </a:rPr>
              <a:t>of a Smart Home Security System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11182" y="5153422"/>
            <a:ext cx="6578435" cy="1196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200" kern="100" spc="96" dirty="0">
                <a:solidFill>
                  <a:srgbClr val="1F2B52"/>
                </a:solidFill>
                <a:latin typeface="JetBrains Mono" pitchFamily="34" charset="0"/>
                <a:cs typeface="JetBrains Mono" pitchFamily="34" charset="-120"/>
              </a:rPr>
              <a:t>Presented by group -11</a:t>
            </a:r>
          </a:p>
          <a:p>
            <a:pPr marL="0" indent="0" algn="l">
              <a:lnSpc>
                <a:spcPct val="108000"/>
              </a:lnSpc>
              <a:spcAft>
                <a:spcPts val="1600"/>
              </a:spcAft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21407" y="523240"/>
            <a:ext cx="4038499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14204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Project in One Sentence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21407" y="1079758"/>
            <a:ext cx="4038499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F2B5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 circuit that checks door, window, and motion sensors, counts active sensors, selects a security rule, and turns on an alarm only when armed.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21407" y="6203633"/>
            <a:ext cx="4470288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50" dirty="0">
                <a:solidFill>
                  <a:srgbClr val="3E4E6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Final 1-bit output: 1 = alarm ON, 0 = alarm OFF</a:t>
            </a:r>
            <a:endParaRPr lang="en-US" sz="13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4981" y="6429177"/>
            <a:ext cx="1438834" cy="428724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79D815D5-0D8D-4FAE-8A9E-EFB56359E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917" y="5380479"/>
            <a:ext cx="262123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Jasmitha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5"/>
              </a:rPr>
              <a:t>2620040033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Harshini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6"/>
              </a:rPr>
              <a:t>2620040066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Harshith –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7"/>
              </a:rPr>
              <a:t>262004011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 err="1">
                <a:latin typeface="Arial" panose="020B0604020202020204" pitchFamily="34" charset="0"/>
              </a:rPr>
              <a:t>Lohith</a:t>
            </a:r>
            <a:r>
              <a:rPr lang="en-US" altLang="en-US" dirty="0">
                <a:latin typeface="Arial" panose="020B0604020202020204" pitchFamily="34" charset="0"/>
              </a:rPr>
              <a:t>   -    2620040023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604"/>
            <a:ext cx="11582110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149" dirty="0">
                <a:solidFill>
                  <a:srgbClr val="3E4E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FOUNDATION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4582"/>
            <a:ext cx="10972526" cy="446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kern="100" spc="-32" dirty="0">
                <a:solidFill>
                  <a:srgbClr val="14204A"/>
                </a:solidFill>
                <a:latin typeface="Fira Sans Extra Condensed Bold" pitchFamily="34" charset="0"/>
                <a:ea typeface="Fira Sans Extra Condensed Bold" pitchFamily="34" charset="-122"/>
                <a:cs typeface="Fira Sans Extra Condensed Bold" pitchFamily="34" charset="-120"/>
              </a:rPr>
              <a:t>Introduction and Objective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480987"/>
            <a:ext cx="11582110" cy="268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1F2B5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What problem are we modelling, and what should the circuit do?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1953816"/>
            <a:ext cx="3620798" cy="38100"/>
          </a:xfrm>
          <a:prstGeom prst="roundRect">
            <a:avLst>
              <a:gd name="adj" fmla="val 49999"/>
            </a:avLst>
          </a:prstGeom>
          <a:solidFill>
            <a:srgbClr val="C42A50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222197"/>
            <a:ext cx="3555911" cy="35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50" dirty="0">
                <a:solidFill>
                  <a:srgbClr val="14204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Introduction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609585" y="2693614"/>
            <a:ext cx="3555911" cy="134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dirty="0">
                <a:solidFill>
                  <a:srgbClr val="1F2B5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 home can have several possible entry points. Door, window, and motion sensors provide simple ON/OFF signals. Digital logic combines these signals to decide whether a possible intrusion should trigger an alarm.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9585" y="4209647"/>
            <a:ext cx="3555911" cy="35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50" dirty="0">
                <a:solidFill>
                  <a:srgbClr val="14204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Project Objective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609585" y="4681065"/>
            <a:ext cx="3555911" cy="894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dirty="0">
                <a:solidFill>
                  <a:srgbClr val="1F2B5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Build a digital circuit that counts active sensors, applies one of two security rules, and blocks the alarm whenever the system is disarmed.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317892" y="2222197"/>
            <a:ext cx="3555911" cy="35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50" dirty="0">
                <a:solidFill>
                  <a:srgbClr val="14204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Output and Rule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4317892" y="2693614"/>
            <a:ext cx="3555911" cy="894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F2B52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Alarm output:</a:t>
            </a:r>
            <a:r>
              <a:rPr lang="en-US" sz="1350" dirty="0">
                <a:solidFill>
                  <a:srgbClr val="1F2B5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1 = alarm ON; 0 = alarm OFF. The alarm sounds only when the system is armed and the selected security condition is satisfied.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317892" y="3687762"/>
            <a:ext cx="3555911" cy="1402556"/>
          </a:xfrm>
          <a:prstGeom prst="roundRect">
            <a:avLst>
              <a:gd name="adj" fmla="val 2172"/>
            </a:avLst>
          </a:prstGeom>
          <a:solidFill>
            <a:srgbClr val="F6D5DD"/>
          </a:solidFill>
          <a:ln/>
        </p:spPr>
      </p:sp>
      <p:sp>
        <p:nvSpPr>
          <p:cNvPr id="13" name="Text 11"/>
          <p:cNvSpPr/>
          <p:nvPr/>
        </p:nvSpPr>
        <p:spPr>
          <a:xfrm>
            <a:off x="4520988" y="3947541"/>
            <a:ext cx="3149720" cy="894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Logic convention:</a:t>
            </a:r>
            <a:r>
              <a:rPr lang="en-US" sz="135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A logic value of </a:t>
            </a:r>
            <a:r>
              <a:rPr lang="en-US" sz="1350" b="1" dirty="0">
                <a:solidFill>
                  <a:srgbClr val="000000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1</a:t>
            </a:r>
            <a:r>
              <a:rPr lang="en-US" sz="135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means ON/active and a logic value of </a:t>
            </a:r>
            <a:r>
              <a:rPr lang="en-US" sz="1350" b="1" dirty="0">
                <a:solidFill>
                  <a:srgbClr val="000000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0</a:t>
            </a:r>
            <a:r>
              <a:rPr lang="en-US" sz="135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means OFF/inactive throughout this project.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026199" y="2222197"/>
            <a:ext cx="3555911" cy="35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50" dirty="0">
                <a:solidFill>
                  <a:srgbClr val="14204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Sensor Inputs</a:t>
            </a:r>
            <a:endParaRPr lang="en-US" sz="2150" dirty="0"/>
          </a:p>
        </p:txBody>
      </p:sp>
      <p:sp>
        <p:nvSpPr>
          <p:cNvPr id="15" name="Text 13"/>
          <p:cNvSpPr/>
          <p:nvPr/>
        </p:nvSpPr>
        <p:spPr>
          <a:xfrm>
            <a:off x="8026199" y="2672726"/>
            <a:ext cx="3555911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14204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Door (D)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26199" y="3062807"/>
            <a:ext cx="3555911" cy="223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dirty="0">
                <a:solidFill>
                  <a:srgbClr val="1F2B5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 = open; 0 = closed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026199" y="3453577"/>
            <a:ext cx="3555911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14204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Window (W)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26199" y="3843658"/>
            <a:ext cx="3555911" cy="223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dirty="0">
                <a:solidFill>
                  <a:srgbClr val="1F2B5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 = open; 0 = closed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026199" y="4234429"/>
            <a:ext cx="3555911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14204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Motion (M)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26199" y="4624510"/>
            <a:ext cx="3555911" cy="223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dirty="0">
                <a:solidFill>
                  <a:srgbClr val="1F2B5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 = movement detected; 0 = no movement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026199" y="5021852"/>
            <a:ext cx="3555911" cy="35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50" dirty="0">
                <a:solidFill>
                  <a:srgbClr val="14204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Control Inputs</a:t>
            </a:r>
            <a:endParaRPr lang="en-US" sz="2150" dirty="0"/>
          </a:p>
        </p:txBody>
      </p:sp>
      <p:sp>
        <p:nvSpPr>
          <p:cNvPr id="22" name="Text 20"/>
          <p:cNvSpPr/>
          <p:nvPr/>
        </p:nvSpPr>
        <p:spPr>
          <a:xfrm>
            <a:off x="8026199" y="5472381"/>
            <a:ext cx="3555911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14204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Arming Switch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026199" y="5862462"/>
            <a:ext cx="3555911" cy="223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dirty="0">
                <a:solidFill>
                  <a:srgbClr val="1F2B5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 = security ON; 0 = OFF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026199" y="6253233"/>
            <a:ext cx="3555911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14204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Mode Selector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026199" y="6643314"/>
            <a:ext cx="3555911" cy="223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dirty="0">
                <a:solidFill>
                  <a:srgbClr val="1F2B5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0 = normal mode; 1 = strict mode</a:t>
            </a:r>
            <a:endParaRPr lang="en-US" sz="135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2918" y="6429177"/>
            <a:ext cx="1438834" cy="428724"/>
          </a:xfrm>
          <a:prstGeom prst="rect">
            <a:avLst/>
          </a:prstGeom>
        </p:spPr>
      </p:pic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352" y="4953000"/>
            <a:ext cx="175712" cy="1403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805"/>
            <a:ext cx="6522577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kern="100" spc="134" dirty="0">
                <a:solidFill>
                  <a:srgbClr val="3E4E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LOGIC MODEL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09585" y="832553"/>
            <a:ext cx="5912992" cy="401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50" b="1" kern="100" spc="-29" dirty="0">
                <a:solidFill>
                  <a:srgbClr val="14204A"/>
                </a:solidFill>
                <a:latin typeface="Fira Sans Extra Condensed Bold" pitchFamily="34" charset="0"/>
                <a:ea typeface="Fira Sans Extra Condensed Bold" pitchFamily="34" charset="-122"/>
                <a:cs typeface="Fira Sans Extra Condensed Bold" pitchFamily="34" charset="-120"/>
              </a:rPr>
              <a:t>Theory and Logic Circuit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609585" y="1375659"/>
            <a:ext cx="6522577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dirty="0">
                <a:solidFill>
                  <a:srgbClr val="1F2B5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How the sensor counter and security decision work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09585" y="1853876"/>
            <a:ext cx="5912992" cy="316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14204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1. Half-Adder 1 — Inputs: Door (D) and Window (W)</a:t>
            </a:r>
            <a:endParaRPr lang="en-US" sz="1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264073"/>
          <a:ext cx="5912992" cy="1139599"/>
        </p:xfrm>
        <a:graphic>
          <a:graphicData uri="http://schemas.openxmlformats.org/drawingml/2006/table">
            <a:tbl>
              <a:tblPr/>
              <a:tblGrid>
                <a:gridCol w="19512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12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0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9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4204A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Output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36907" marR="136907" marT="73017" marB="73017" anchor="ctr">
                    <a:lnL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4204A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Expression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36907" marR="136907" marT="73017" marB="73017" anchor="ctr">
                    <a:lnL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4204A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Meaning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36907" marR="136907" marT="73017" marB="73017" anchor="ctr">
                    <a:lnL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9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F2B5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Sum₁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36907" marR="136907" marT="73017" marB="73017" anchor="ctr">
                    <a:lnL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F2B5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D XOR W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36907" marR="136907" marT="73017" marB="73017" anchor="ctr">
                    <a:lnL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F2B5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1 when inputs differ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36907" marR="136907" marT="73017" marB="73017" anchor="ctr">
                    <a:lnL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6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F2B5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Carry₁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36907" marR="136907" marT="73017" marB="73017" anchor="ctr">
                    <a:lnL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F2B5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D AND W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36907" marR="136907" marT="73017" marB="73017" anchor="ctr">
                    <a:lnL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F2B5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1 when both are 1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36907" marR="136907" marT="73017" marB="73017" anchor="ctr">
                    <a:lnL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09585" y="3678806"/>
            <a:ext cx="5912992" cy="316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14204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2. Half-Adder 2 — Inputs: Sum₁ and Motion (M)</a:t>
            </a:r>
            <a:endParaRPr lang="en-US" sz="1900" dirty="0"/>
          </a:p>
        </p:txBody>
      </p:sp>
      <p:graphicFrame>
        <p:nvGraphicFramePr>
          <p:cNvPr id="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4089003"/>
          <a:ext cx="5912992" cy="1581745"/>
        </p:xfrm>
        <a:graphic>
          <a:graphicData uri="http://schemas.openxmlformats.org/drawingml/2006/table">
            <a:tbl>
              <a:tblPr/>
              <a:tblGrid>
                <a:gridCol w="19512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12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0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9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4204A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Output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36907" marR="136907" marT="73017" marB="73017" anchor="ctr">
                    <a:lnL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4204A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Expression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36907" marR="136907" marT="73017" marB="73017" anchor="ctr">
                    <a:lnL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4204A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Meaning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36907" marR="136907" marT="73017" marB="73017" anchor="ctr">
                    <a:lnL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1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F2B5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CountLow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36907" marR="136907" marT="73017" marB="73017" anchor="ctr">
                    <a:lnL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F2B5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Sum₁ XOR M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36907" marR="136907" marT="73017" marB="73017" anchor="ctr">
                    <a:lnL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F2B5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Low bit of sensor count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36907" marR="136907" marT="73017" marB="73017" anchor="ctr">
                    <a:lnL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6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F2B5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Carry₂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36907" marR="136907" marT="73017" marB="73017" anchor="ctr">
                    <a:lnL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F2B5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Sum₁ AND M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36907" marR="136907" marT="73017" marB="73017" anchor="ctr">
                    <a:lnL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F2B5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Second carry signal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36907" marR="136907" marT="73017" marB="73017" anchor="ctr">
                    <a:lnL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09585" y="5733527"/>
            <a:ext cx="5912992" cy="316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14204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3. OR Gate — Count High Bit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609585" y="6157705"/>
            <a:ext cx="6522577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F2B52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CountHigh = Carry₁ OR Carry₂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09585" y="6514349"/>
            <a:ext cx="6522577" cy="191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B5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The two bits together count active sensors from 0 to 3: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436855" y="0"/>
            <a:ext cx="4754840" cy="6858000"/>
          </a:xfrm>
          <a:prstGeom prst="rect">
            <a:avLst/>
          </a:prstGeom>
          <a:solidFill>
            <a:srgbClr val="C9D0F4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6248" y="279400"/>
            <a:ext cx="1297054" cy="729555"/>
          </a:xfrm>
          <a:prstGeom prst="rect">
            <a:avLst/>
          </a:prstGeom>
        </p:spPr>
      </p:pic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5698" y="279400"/>
            <a:ext cx="1297054" cy="729555"/>
          </a:xfrm>
          <a:prstGeom prst="rect">
            <a:avLst/>
          </a:prstGeom>
        </p:spPr>
      </p:pic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5149" y="279400"/>
            <a:ext cx="1297054" cy="729555"/>
          </a:xfrm>
          <a:prstGeom prst="rect">
            <a:avLst/>
          </a:prstGeom>
        </p:spPr>
      </p:pic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6248" y="1140520"/>
            <a:ext cx="1920728" cy="1079401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6248" y="2351484"/>
            <a:ext cx="4063898" cy="1074936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7716248" y="3485059"/>
            <a:ext cx="4196054" cy="501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1F2B5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Circuit Diagram Placeholder</a:t>
            </a:r>
            <a:endParaRPr lang="en-US" sz="11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1F2B5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Half-Adder 1    Half-Adder 2    OR Gate    AND Gate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500"/>
            <a:ext cx="5333867" cy="143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kern="100" spc="132" dirty="0">
                <a:solidFill>
                  <a:srgbClr val="3E4E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09585" y="827103"/>
            <a:ext cx="4724282" cy="394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b="1" kern="100" spc="-28" dirty="0">
                <a:solidFill>
                  <a:srgbClr val="14204A"/>
                </a:solidFill>
                <a:latin typeface="Fira Sans Extra Condensed Bold" pitchFamily="34" charset="0"/>
                <a:ea typeface="Fira Sans Extra Condensed Bold" pitchFamily="34" charset="-122"/>
                <a:cs typeface="Fira Sans Extra Condensed Bold" pitchFamily="34" charset="-120"/>
              </a:rPr>
              <a:t>Circuit Design in Logisim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1355215"/>
            <a:ext cx="5333867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F2B5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Implementation, signal path, and Boolean expression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1823249"/>
            <a:ext cx="4724282" cy="310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14204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Signal Path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09585" y="2226171"/>
            <a:ext cx="814466" cy="179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3E4E6A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93651" y="2233105"/>
            <a:ext cx="4340216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F2B52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Sensor Inputs</a:t>
            </a:r>
            <a:endParaRPr lang="en-US" sz="12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F2B5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Door, window, and motion inputs enter the circuit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585" y="2751634"/>
            <a:ext cx="831432" cy="179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3E4E6A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0617" y="2758567"/>
            <a:ext cx="4323250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F2B52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Half-Adder 1</a:t>
            </a:r>
            <a:endParaRPr lang="en-US" sz="12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F2B5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D + W → produces Sum₁ and Carry₁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585" y="3277096"/>
            <a:ext cx="832325" cy="179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3E4E6A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11510" y="3284030"/>
            <a:ext cx="4322357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F2B52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Half-Adder 2</a:t>
            </a:r>
            <a:endParaRPr lang="en-US" sz="12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F2B5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Sum₁ + M → produces CountLow and Carry₂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585" y="3802559"/>
            <a:ext cx="836691" cy="179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3E4E6A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5875" y="3809492"/>
            <a:ext cx="4317991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F2B52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OR Gate</a:t>
            </a:r>
            <a:endParaRPr lang="en-US" sz="12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F2B5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Combines Carry₁ and Carry₂ to form CountHigh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585" y="4328021"/>
            <a:ext cx="831432" cy="179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3E4E6A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05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10617" y="4334955"/>
            <a:ext cx="4323250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F2B52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Multiplexer</a:t>
            </a:r>
            <a:endParaRPr lang="en-US" sz="12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F2B5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Selects normal or strict rule based on Mode selector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9585" y="4853484"/>
            <a:ext cx="835897" cy="179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3E4E6A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06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15082" y="4860417"/>
            <a:ext cx="4318785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F2B52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AND Gate</a:t>
            </a:r>
            <a:endParaRPr lang="en-US" sz="12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F2B5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Combines selected signal with Armed switch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9585" y="5378946"/>
            <a:ext cx="820915" cy="179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3E4E6A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07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0100" y="5385880"/>
            <a:ext cx="4333767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F2B52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Alarm Output</a:t>
            </a:r>
            <a:endParaRPr lang="en-US" sz="12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F2B5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Final 1-bit alarm result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7828" y="622405"/>
            <a:ext cx="4724282" cy="310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14204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Boolean Expressions</a:t>
            </a:r>
            <a:endParaRPr lang="en-US" sz="1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7828" y="1021755"/>
          <a:ext cx="4724282" cy="2831632"/>
        </p:xfrm>
        <a:graphic>
          <a:graphicData uri="http://schemas.openxmlformats.org/drawingml/2006/table">
            <a:tbl>
              <a:tblPr/>
              <a:tblGrid>
                <a:gridCol w="21259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8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4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04A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Signal</a:t>
                      </a:r>
                      <a:endParaRPr lang="en-US" sz="14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34448" marR="134448" marT="71705" marB="71705" anchor="ctr">
                    <a:lnL w="12700" cap="flat" cmpd="sng" algn="ctr">
                      <a:solidFill>
                        <a:srgbClr val="D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04A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Expression</a:t>
                      </a:r>
                      <a:endParaRPr lang="en-US" sz="14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34448" marR="134448" marT="71705" marB="71705" anchor="ctr">
                    <a:lnL w="12700" cap="flat" cmpd="sng" algn="ctr">
                      <a:solidFill>
                        <a:srgbClr val="D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4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B5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CountLow</a:t>
                      </a:r>
                      <a:endParaRPr lang="en-US" sz="14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34448" marR="134448" marT="71705" marB="71705" anchor="ctr">
                    <a:lnL w="12700" cap="flat" cmpd="sng" algn="ctr">
                      <a:solidFill>
                        <a:srgbClr val="D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B5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(D XOR W) XOR M</a:t>
                      </a:r>
                      <a:endParaRPr lang="en-US" sz="14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34448" marR="134448" marT="71705" marB="71705" anchor="ctr">
                    <a:lnL w="12700" cap="flat" cmpd="sng" algn="ctr">
                      <a:solidFill>
                        <a:srgbClr val="D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72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B5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CountHigh</a:t>
                      </a:r>
                      <a:endParaRPr lang="en-US" sz="14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34448" marR="134448" marT="71705" marB="71705" anchor="ctr">
                    <a:lnL w="12700" cap="flat" cmpd="sng" algn="ctr">
                      <a:solidFill>
                        <a:srgbClr val="D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B5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(D AND W) OR ((D XOR W) AND M)</a:t>
                      </a:r>
                      <a:endParaRPr lang="en-US" sz="14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34448" marR="134448" marT="71705" marB="71705" anchor="ctr">
                    <a:lnL w="12700" cap="flat" cmpd="sng" algn="ctr">
                      <a:solidFill>
                        <a:srgbClr val="D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4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B5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Normal condition</a:t>
                      </a:r>
                      <a:endParaRPr lang="en-US" sz="14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34448" marR="134448" marT="71705" marB="71705" anchor="ctr">
                    <a:lnL w="12700" cap="flat" cmpd="sng" algn="ctr">
                      <a:solidFill>
                        <a:srgbClr val="D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B5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CountHigh OR CountLow</a:t>
                      </a:r>
                      <a:endParaRPr lang="en-US" sz="14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34448" marR="134448" marT="71705" marB="71705" anchor="ctr">
                    <a:lnL w="12700" cap="flat" cmpd="sng" algn="ctr">
                      <a:solidFill>
                        <a:srgbClr val="D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4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B5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Strict condition</a:t>
                      </a:r>
                      <a:endParaRPr lang="en-US" sz="14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34448" marR="134448" marT="71705" marB="71705" anchor="ctr">
                    <a:lnL w="12700" cap="flat" cmpd="sng" algn="ctr">
                      <a:solidFill>
                        <a:srgbClr val="D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B5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CountHigh</a:t>
                      </a:r>
                      <a:endParaRPr lang="en-US" sz="14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34448" marR="134448" marT="71705" marB="71705" anchor="ctr">
                    <a:lnL w="12700" cap="flat" cmpd="sng" algn="ctr">
                      <a:solidFill>
                        <a:srgbClr val="D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4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B5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Selected alarm</a:t>
                      </a:r>
                      <a:endParaRPr lang="en-US" sz="14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34448" marR="134448" marT="71705" marB="71705" anchor="ctr">
                    <a:lnL w="12700" cap="flat" cmpd="sng" algn="ctr">
                      <a:solidFill>
                        <a:srgbClr val="D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B5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MUX(Normal, Strict, Mode)</a:t>
                      </a:r>
                      <a:endParaRPr lang="en-US" sz="14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34448" marR="134448" marT="71705" marB="71705" anchor="ctr">
                    <a:lnL w="12700" cap="flat" cmpd="sng" algn="ctr">
                      <a:solidFill>
                        <a:srgbClr val="D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71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B5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Alarm</a:t>
                      </a:r>
                      <a:endParaRPr lang="en-US" sz="14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34448" marR="134448" marT="71705" marB="71705" anchor="ctr">
                    <a:lnL w="12700" cap="flat" cmpd="sng" algn="ctr">
                      <a:solidFill>
                        <a:srgbClr val="D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B5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Armed AND Selected alarm</a:t>
                      </a:r>
                      <a:endParaRPr lang="en-US" sz="14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34448" marR="134448" marT="71705" marB="71705" anchor="ctr">
                    <a:lnL w="12700" cap="flat" cmpd="sng" algn="ctr">
                      <a:solidFill>
                        <a:srgbClr val="D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6857828" y="3980359"/>
            <a:ext cx="4724282" cy="820936"/>
          </a:xfrm>
          <a:prstGeom prst="roundRect">
            <a:avLst>
              <a:gd name="adj" fmla="val 3275"/>
            </a:avLst>
          </a:prstGeom>
          <a:solidFill>
            <a:srgbClr val="F6D5DD"/>
          </a:solidFill>
          <a:ln/>
        </p:spPr>
      </p:sp>
      <p:sp>
        <p:nvSpPr>
          <p:cNvPr id="23" name="Text 20"/>
          <p:cNvSpPr/>
          <p:nvPr/>
        </p:nvSpPr>
        <p:spPr>
          <a:xfrm>
            <a:off x="7037013" y="4214801"/>
            <a:ext cx="4365913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Select = 0 chooses normal mode; Select = 1 chooses strict mode. The selector does </a:t>
            </a:r>
            <a:r>
              <a:rPr lang="en-US" sz="1200" b="1" dirty="0">
                <a:solidFill>
                  <a:srgbClr val="000000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not</a:t>
            </a:r>
            <a:r>
              <a:rPr lang="en-US" sz="120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arm the system.</a:t>
            </a:r>
            <a:endParaRPr lang="en-US" sz="12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828" y="4928195"/>
            <a:ext cx="2594009" cy="1600101"/>
          </a:xfrm>
          <a:prstGeom prst="rect">
            <a:avLst/>
          </a:prstGeom>
        </p:spPr>
      </p:pic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3257" y="4928195"/>
            <a:ext cx="1713267" cy="18668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31633"/>
            <a:ext cx="9977733" cy="615485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9331" y="3107730"/>
            <a:ext cx="812780" cy="19407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9331" y="3508177"/>
            <a:ext cx="812780" cy="2420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689868"/>
            <a:ext cx="4444889" cy="484326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5825827"/>
            <a:ext cx="1071536" cy="25588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046" y="5739507"/>
            <a:ext cx="1438735" cy="4286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055"/>
            <a:ext cx="5333867" cy="149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100" spc="137" dirty="0">
                <a:solidFill>
                  <a:srgbClr val="3E4E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VERIFICATION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585" y="839191"/>
            <a:ext cx="4724282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950" b="1" kern="100" spc="-29" dirty="0">
                <a:solidFill>
                  <a:srgbClr val="14204A"/>
                </a:solidFill>
                <a:latin typeface="Fira Sans Extra Condensed Bold" pitchFamily="34" charset="0"/>
                <a:ea typeface="Fira Sans Extra Condensed Bold" pitchFamily="34" charset="-122"/>
                <a:cs typeface="Fira Sans Extra Condensed Bold" pitchFamily="34" charset="-120"/>
              </a:rPr>
              <a:t>Simulation Results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09585" y="1384609"/>
            <a:ext cx="4724282" cy="32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50" dirty="0">
                <a:solidFill>
                  <a:srgbClr val="14204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Truth Table — Sensor Count vs. Mode</a:t>
            </a:r>
            <a:endParaRPr lang="en-US" sz="1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804888"/>
          <a:ext cx="4724281" cy="2915669"/>
        </p:xfrm>
        <a:graphic>
          <a:graphicData uri="http://schemas.openxmlformats.org/drawingml/2006/table">
            <a:tbl>
              <a:tblPr/>
              <a:tblGrid>
                <a:gridCol w="1322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2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93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95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700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4204A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Active Sensors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40275" marR="140275" marT="74813" marB="74813" anchor="ctr">
                    <a:lnL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4204A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Count (High, Low)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40275" marR="140275" marT="74813" marB="74813" anchor="ctr">
                    <a:lnL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4204A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Normal Mode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40275" marR="140275" marT="74813" marB="74813" anchor="ctr">
                    <a:lnL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4204A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Strict Mode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40275" marR="140275" marT="74813" marB="74813" anchor="ctr">
                    <a:lnL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9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F2B5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None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40275" marR="140275" marT="74813" marB="74813" anchor="ctr">
                    <a:lnL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F2B5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0 0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40275" marR="140275" marT="74813" marB="74813" anchor="ctr">
                    <a:lnL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F2B5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OFF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40275" marR="140275" marT="74813" marB="74813" anchor="ctr">
                    <a:lnL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F2B5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OFF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40275" marR="140275" marT="74813" marB="74813" anchor="ctr">
                    <a:lnL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9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F2B5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One sensor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40275" marR="140275" marT="74813" marB="74813" anchor="ctr">
                    <a:lnL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F2B5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0 1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40275" marR="140275" marT="74813" marB="74813" anchor="ctr">
                    <a:lnL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F2B5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ON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40275" marR="140275" marT="74813" marB="74813" anchor="ctr">
                    <a:lnL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F2B5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OFF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40275" marR="140275" marT="74813" marB="74813" anchor="ctr">
                    <a:lnL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20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F2B5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Two sensors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40275" marR="140275" marT="74813" marB="74813" anchor="ctr">
                    <a:lnL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F2B5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1 0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40275" marR="140275" marT="74813" marB="74813" anchor="ctr">
                    <a:lnL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F2B5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ON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40275" marR="140275" marT="74813" marB="74813" anchor="ctr">
                    <a:lnL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F2B5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ON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40275" marR="140275" marT="74813" marB="74813" anchor="ctr">
                    <a:lnL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56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F2B5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Three sensors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40275" marR="140275" marT="74813" marB="74813" anchor="ctr">
                    <a:lnL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F2B5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1 1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40275" marR="140275" marT="74813" marB="74813" anchor="ctr">
                    <a:lnL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F2B5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ON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40275" marR="140275" marT="74813" marB="74813" anchor="ctr">
                    <a:lnL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F2B5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ON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40275" marR="140275" marT="74813" marB="74813" anchor="ctr">
                    <a:lnL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BF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09585" y="4871442"/>
            <a:ext cx="4724282" cy="864195"/>
          </a:xfrm>
          <a:prstGeom prst="roundRect">
            <a:avLst>
              <a:gd name="adj" fmla="val 3246"/>
            </a:avLst>
          </a:prstGeom>
          <a:solidFill>
            <a:srgbClr val="F6D5DD"/>
          </a:solidFill>
          <a:ln/>
        </p:spPr>
      </p:sp>
      <p:sp>
        <p:nvSpPr>
          <p:cNvPr id="7" name="Text 4"/>
          <p:cNvSpPr/>
          <p:nvPr/>
        </p:nvSpPr>
        <p:spPr>
          <a:xfrm>
            <a:off x="796607" y="5112758"/>
            <a:ext cx="4350236" cy="396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Golos Text Bold" pitchFamily="34" charset="0"/>
                <a:ea typeface="Golos Text" pitchFamily="34" charset="-122"/>
                <a:cs typeface="Golos Text Bold" pitchFamily="34" charset="-120"/>
              </a:rPr>
              <a:t>Strict </a:t>
            </a:r>
            <a:r>
              <a:rPr lang="en-US" sz="1250" b="1" dirty="0" err="1">
                <a:solidFill>
                  <a:srgbClr val="000000"/>
                </a:solidFill>
                <a:latin typeface="Golos Text Bold" pitchFamily="34" charset="0"/>
                <a:ea typeface="Golos Text" pitchFamily="34" charset="-122"/>
                <a:cs typeface="Golos Text Bold" pitchFamily="34" charset="-120"/>
              </a:rPr>
              <a:t>mode</a:t>
            </a:r>
            <a:r>
              <a:rPr lang="en-US" sz="1250" dirty="0" err="1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triggers</a:t>
            </a:r>
            <a:r>
              <a:rPr lang="en-US" sz="125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for 1, 2, or 3 active sensors. </a:t>
            </a:r>
            <a:r>
              <a:rPr lang="en-US" sz="1250" b="1" dirty="0">
                <a:solidFill>
                  <a:srgbClr val="000000"/>
                </a:solidFill>
                <a:latin typeface="Golos Text Bold" pitchFamily="34" charset="0"/>
                <a:ea typeface="Golos Text" pitchFamily="34" charset="-122"/>
                <a:cs typeface="Golos Text Bold" pitchFamily="34" charset="-120"/>
              </a:rPr>
              <a:t>Normal mode</a:t>
            </a:r>
          </a:p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triggers only for 2 or 3 active sensors.</a:t>
            </a:r>
            <a:endParaRPr lang="en-US" sz="1250" dirty="0"/>
          </a:p>
        </p:txBody>
      </p:sp>
      <p:sp>
        <p:nvSpPr>
          <p:cNvPr id="5" name="Text 5"/>
          <p:cNvSpPr/>
          <p:nvPr/>
        </p:nvSpPr>
        <p:spPr>
          <a:xfrm>
            <a:off x="6857828" y="623800"/>
            <a:ext cx="4724282" cy="32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50" dirty="0">
                <a:solidFill>
                  <a:srgbClr val="14204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How to Test</a:t>
            </a:r>
            <a:endParaRPr lang="en-US" sz="19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3254" y="1129437"/>
            <a:ext cx="203195" cy="203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18896" y="1054729"/>
            <a:ext cx="4163214" cy="243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14204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Arm the System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7418896" y="1405151"/>
            <a:ext cx="4163214" cy="1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1F2B5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Set Armed = 1 to test alarm responses</a:t>
            </a:r>
            <a:endParaRPr lang="en-US" sz="12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3254" y="1833691"/>
            <a:ext cx="203195" cy="203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18896" y="1758984"/>
            <a:ext cx="4163214" cy="243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14204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Change Mode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7418896" y="2109406"/>
            <a:ext cx="4163214" cy="1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1F2B5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Mode = 0 for normal; Mode = 1 for strict</a:t>
            </a:r>
            <a:endParaRPr lang="en-US" sz="12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3254" y="2537946"/>
            <a:ext cx="203195" cy="203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418896" y="2463238"/>
            <a:ext cx="4163214" cy="243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14204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Disarm Test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7418896" y="2813661"/>
            <a:ext cx="4163214" cy="396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1F2B5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With Armed = 0, alarm is OFF for every sensor combination</a:t>
            </a:r>
            <a:endParaRPr lang="en-US" sz="12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3254" y="3440539"/>
            <a:ext cx="203195" cy="203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418896" y="3365831"/>
            <a:ext cx="4163214" cy="243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14204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Troubleshoot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7418896" y="3716254"/>
            <a:ext cx="4163214" cy="396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1F2B5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If output differs, check the MUX select pin, sensor inputs, and arming switch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6857828" y="4383099"/>
            <a:ext cx="4724282" cy="648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50" dirty="0">
                <a:solidFill>
                  <a:srgbClr val="14204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Truth Table / Extra Test Evidence Placeholder</a:t>
            </a:r>
            <a:endParaRPr lang="en-US" sz="1950" dirty="0"/>
          </a:p>
        </p:txBody>
      </p:sp>
      <p:sp>
        <p:nvSpPr>
          <p:cNvPr id="22" name="Text 15"/>
          <p:cNvSpPr/>
          <p:nvPr/>
        </p:nvSpPr>
        <p:spPr>
          <a:xfrm>
            <a:off x="6857828" y="5134983"/>
            <a:ext cx="4724282" cy="595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1F2B5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Insert your full truth table or additional Logisim screenshots here. Include the three sensor inputs, mode selection, arming switch, and expected alarm output.</a:t>
            </a:r>
            <a:endParaRPr lang="en-US" sz="125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7828" y="5860554"/>
            <a:ext cx="4724282" cy="10009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631"/>
            <a:ext cx="6629234" cy="136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100" spc="125" dirty="0">
                <a:solidFill>
                  <a:srgbClr val="3E4E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CLOSE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9585" y="811550"/>
            <a:ext cx="6019649" cy="374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700" b="1" kern="100" spc="-27" dirty="0">
                <a:solidFill>
                  <a:srgbClr val="14204A"/>
                </a:solidFill>
                <a:latin typeface="Fira Sans Extra Condensed Bold" pitchFamily="34" charset="0"/>
                <a:ea typeface="Fira Sans Extra Condensed Bold" pitchFamily="34" charset="-122"/>
                <a:cs typeface="Fira Sans Extra Condensed Bold" pitchFamily="34" charset="-120"/>
              </a:rPr>
              <a:t>Conclusion and Applications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585" y="1298180"/>
            <a:ext cx="6019649" cy="295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04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585" y="1673027"/>
            <a:ext cx="6019649" cy="1791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02000"/>
              </a:lnSpc>
              <a:buSzPct val="100000"/>
              <a:buChar char="•"/>
            </a:pPr>
            <a:r>
              <a:rPr lang="en-US" sz="1350" dirty="0">
                <a:solidFill>
                  <a:srgbClr val="1F2B5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Sensors represent doors, windows, and movement in a protected area.</a:t>
            </a:r>
            <a:endParaRPr lang="en-US" sz="1350" dirty="0"/>
          </a:p>
          <a:p>
            <a:pPr marL="274320" indent="-274320" algn="l">
              <a:lnSpc>
                <a:spcPct val="102000"/>
              </a:lnSpc>
              <a:buSzPct val="100000"/>
              <a:buChar char="•"/>
            </a:pPr>
            <a:r>
              <a:rPr lang="en-US" sz="1350" dirty="0">
                <a:solidFill>
                  <a:srgbClr val="1F2B5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Half-adders count the active sensors; the OR gate combines carry signals.</a:t>
            </a:r>
            <a:endParaRPr lang="en-US" sz="1350" dirty="0"/>
          </a:p>
          <a:p>
            <a:pPr marL="274320" indent="-274320" algn="l">
              <a:lnSpc>
                <a:spcPct val="102000"/>
              </a:lnSpc>
              <a:buSzPct val="100000"/>
              <a:buChar char="•"/>
            </a:pPr>
            <a:r>
              <a:rPr lang="en-US" sz="1350" dirty="0">
                <a:solidFill>
                  <a:srgbClr val="1F2B5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The multiplexer selects normal or strict mode.</a:t>
            </a:r>
            <a:endParaRPr lang="en-US" sz="1350" dirty="0"/>
          </a:p>
          <a:p>
            <a:pPr marL="274320" indent="-274320" algn="l">
              <a:lnSpc>
                <a:spcPct val="102000"/>
              </a:lnSpc>
              <a:buSzPct val="100000"/>
              <a:buChar char="•"/>
            </a:pPr>
            <a:r>
              <a:rPr lang="en-US" sz="1350" dirty="0">
                <a:solidFill>
                  <a:srgbClr val="1F2B5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The final AND gate ensures the alarm only works when armed.</a:t>
            </a:r>
            <a:endParaRPr lang="en-US" sz="1350" dirty="0"/>
          </a:p>
          <a:p>
            <a:pPr marL="274320" indent="-274320" algn="l">
              <a:lnSpc>
                <a:spcPct val="102000"/>
              </a:lnSpc>
              <a:buSzPct val="100000"/>
              <a:buChar char="•"/>
            </a:pPr>
            <a:r>
              <a:rPr lang="en-US" sz="1350" dirty="0">
                <a:solidFill>
                  <a:srgbClr val="1F2B5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The project demonstrates half-adders, XOR, OR, AND, and multiplexer logic in one design.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000800" y="621508"/>
            <a:ext cx="3581310" cy="295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04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Applications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00800" y="996355"/>
            <a:ext cx="3581310" cy="687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02000"/>
              </a:lnSpc>
              <a:buSzPct val="100000"/>
              <a:buFont typeface="+mj-lt"/>
              <a:buAutoNum type="arabicPeriod"/>
            </a:pPr>
            <a:r>
              <a:rPr lang="en-US" sz="1350" dirty="0">
                <a:solidFill>
                  <a:srgbClr val="1F2B5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Homes &amp; Apartments</a:t>
            </a:r>
            <a:endParaRPr lang="en-US" sz="1350" dirty="0"/>
          </a:p>
          <a:p>
            <a:pPr marL="274320" indent="-274320" algn="l">
              <a:lnSpc>
                <a:spcPct val="102000"/>
              </a:lnSpc>
              <a:buSzPct val="100000"/>
              <a:buFont typeface="+mj-lt"/>
              <a:buAutoNum type="arabicPeriod" startAt="2"/>
            </a:pPr>
            <a:r>
              <a:rPr lang="en-US" sz="1350" dirty="0">
                <a:solidFill>
                  <a:srgbClr val="1F2B5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Laboratories &amp; Offices</a:t>
            </a:r>
            <a:endParaRPr lang="en-US" sz="1350" dirty="0"/>
          </a:p>
          <a:p>
            <a:pPr marL="274320" indent="-274320" algn="l">
              <a:lnSpc>
                <a:spcPct val="102000"/>
              </a:lnSpc>
              <a:buSzPct val="100000"/>
              <a:buFont typeface="+mj-lt"/>
              <a:buAutoNum type="arabicPeriod" startAt="3"/>
            </a:pPr>
            <a:r>
              <a:rPr lang="en-US" sz="1350" dirty="0">
                <a:solidFill>
                  <a:srgbClr val="1F2B5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Small Storage Rooms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00800" y="1802846"/>
            <a:ext cx="3581310" cy="344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3E4E6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The same logic concept can be adapted to other protected areas.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9585" y="4126708"/>
            <a:ext cx="6019649" cy="295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04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Possible Improvements</a:t>
            </a:r>
            <a:endParaRPr lang="en-US" sz="18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4501555"/>
            <a:ext cx="203195" cy="203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09585" y="4830566"/>
            <a:ext cx="29336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dirty="0">
                <a:solidFill>
                  <a:srgbClr val="14204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Siren / Notification Output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09585" y="5146085"/>
            <a:ext cx="2933627" cy="346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1F2B5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Add a real siren or notification output for physical alerting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608" y="4501555"/>
            <a:ext cx="203195" cy="203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95608" y="4830566"/>
            <a:ext cx="29336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dirty="0">
                <a:solidFill>
                  <a:srgbClr val="14204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More Sensors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695608" y="5146085"/>
            <a:ext cx="2933627" cy="346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1F2B5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Include additional sensor inputs to cover more entry points</a:t>
            </a:r>
            <a:endParaRPr lang="en-US" sz="11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5631557"/>
            <a:ext cx="203195" cy="203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9585" y="5960568"/>
            <a:ext cx="29336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dirty="0">
                <a:solidFill>
                  <a:srgbClr val="14204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Delay or Entry Code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09585" y="6276087"/>
            <a:ext cx="2933627" cy="346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1F2B5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Add a delay timer or PIN-based entry code for usability</a:t>
            </a:r>
            <a:endParaRPr lang="en-US" sz="11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608" y="5631557"/>
            <a:ext cx="203195" cy="203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695608" y="5960568"/>
            <a:ext cx="29336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dirty="0">
                <a:solidFill>
                  <a:srgbClr val="14204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Real Hardware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3695608" y="6276087"/>
            <a:ext cx="2933627" cy="346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1F2B5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Test the circuit with real hardware after safe design review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8000800" y="4126708"/>
            <a:ext cx="3581310" cy="295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04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Limitation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8000800" y="4501555"/>
            <a:ext cx="3581310" cy="1119386"/>
          </a:xfrm>
          <a:prstGeom prst="roundRect">
            <a:avLst>
              <a:gd name="adj" fmla="val 2283"/>
            </a:avLst>
          </a:prstGeom>
          <a:solidFill>
            <a:srgbClr val="FCF2B5"/>
          </a:solidFill>
          <a:ln/>
        </p:spPr>
      </p:sp>
      <p:sp>
        <p:nvSpPr>
          <p:cNvPr id="24" name="Text 18"/>
          <p:cNvSpPr/>
          <p:nvPr/>
        </p:nvSpPr>
        <p:spPr>
          <a:xfrm>
            <a:off x="8171055" y="4728175"/>
            <a:ext cx="3240800" cy="693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This is a digital logic simulation, not a complete real alarm. A real installation also needs physical sensors, power, a siren driver, and safe installation.</a:t>
            </a:r>
            <a:endParaRPr lang="en-US" sz="11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24981" y="6429177"/>
            <a:ext cx="1438834" cy="4287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921</Words>
  <Application>Microsoft Office PowerPoint</Application>
  <PresentationFormat>Widescreen</PresentationFormat>
  <Paragraphs>168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Golos Text Bold</vt:lpstr>
      <vt:lpstr>Golos Text</vt:lpstr>
      <vt:lpstr>Calibri</vt:lpstr>
      <vt:lpstr>Fira Sans Extra Condensed Bold</vt:lpstr>
      <vt:lpstr>JetBrains Mono</vt:lpstr>
      <vt:lpstr>Golos Text SemiBold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HOME</dc:creator>
  <cp:lastModifiedBy>J HARSHITH CHOWDARY</cp:lastModifiedBy>
  <cp:revision>5</cp:revision>
  <dcterms:created xsi:type="dcterms:W3CDTF">2026-10-15T03:23:44Z</dcterms:created>
  <dcterms:modified xsi:type="dcterms:W3CDTF">2026-10-15T04:29:07Z</dcterms:modified>
</cp:coreProperties>
</file>